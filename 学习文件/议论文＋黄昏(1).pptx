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4" r:id="rId3"/>
    <p:sldId id="433" r:id="rId4"/>
    <p:sldId id="450" r:id="rId5"/>
    <p:sldId id="451" r:id="rId6"/>
    <p:sldId id="452" r:id="rId7"/>
    <p:sldId id="455" r:id="rId8"/>
    <p:sldId id="441" r:id="rId9"/>
    <p:sldId id="442" r:id="rId10"/>
    <p:sldId id="443" r:id="rId11"/>
    <p:sldId id="444" r:id="rId12"/>
    <p:sldId id="453" r:id="rId13"/>
    <p:sldId id="456" r:id="rId14"/>
    <p:sldId id="457" r:id="rId15"/>
    <p:sldId id="458" r:id="rId16"/>
    <p:sldId id="459" r:id="rId17"/>
    <p:sldId id="460" r:id="rId18"/>
    <p:sldId id="461" r:id="rId19"/>
    <p:sldId id="462" r:id="rId20"/>
    <p:sldId id="463" r:id="rId21"/>
    <p:sldId id="464" r:id="rId22"/>
    <p:sldId id="465" r:id="rId23"/>
    <p:sldId id="466" r:id="rId24"/>
    <p:sldId id="467" r:id="rId25"/>
    <p:sldId id="421"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2" userDrawn="1">
          <p15:clr>
            <a:srgbClr val="A4A3A4"/>
          </p15:clr>
        </p15:guide>
        <p15:guide id="2" pos="37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D1CA"/>
    <a:srgbClr val="EDD0BB"/>
    <a:srgbClr val="E2D1C9"/>
    <a:srgbClr val="B6C5CC"/>
    <a:srgbClr val="FBF3EA"/>
    <a:srgbClr val="ECCFBD"/>
    <a:srgbClr val="B2C2C9"/>
    <a:srgbClr val="FFFFFF"/>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302"/>
        <p:guide pos="378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latin typeface="Arial" panose="020B060402020209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90204" pitchFamily="34" charset="0"/>
                <a:ea typeface="微软雅黑" panose="020B0503020204020204" pitchFamily="34" charset="-122"/>
              </a:defRPr>
            </a:lvl2pPr>
            <a:lvl3pPr marL="1143000" indent="-228600" eaLnBrk="1" fontAlgn="auto" latinLnBrk="0" hangingPunct="1">
              <a:lnSpc>
                <a:spcPct val="120000"/>
              </a:lnSpc>
              <a:buFont typeface="Arial" panose="020B0604020202090204" pitchFamily="34" charset="0"/>
              <a:buChar char="●"/>
              <a:defRPr sz="1600" u="none" strike="noStrike" kern="1200" cap="none" spc="150" normalizeH="0" baseline="0">
                <a:solidFill>
                  <a:schemeClr val="tx1">
                    <a:lumMod val="65000"/>
                    <a:lumOff val="35000"/>
                  </a:schemeClr>
                </a:solidFill>
                <a:latin typeface="Arial" panose="020B060402020209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9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9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9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9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9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9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9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9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90204" pitchFamily="34" charset="0"/>
                <a:ea typeface="微软雅黑" panose="020B0503020204020204" pitchFamily="34" charset="-122"/>
              </a:defRPr>
            </a:lvl2pPr>
            <a:lvl3pPr eaLnBrk="1" fontAlgn="auto" latinLnBrk="0" hangingPunct="1">
              <a:buFont typeface="Arial" panose="020B0604020202090204" pitchFamily="34" charset="0"/>
              <a:buChar char="●"/>
              <a:defRPr u="none" strike="noStrike" kern="1200" cap="none" spc="150" normalizeH="0">
                <a:solidFill>
                  <a:schemeClr val="tx1">
                    <a:lumMod val="65000"/>
                    <a:lumOff val="35000"/>
                  </a:schemeClr>
                </a:solidFill>
                <a:uFillTx/>
                <a:latin typeface="Arial" panose="020B060402020209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9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9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9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9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9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9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9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9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9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9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9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9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9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9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8.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2.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3.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4.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5.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6.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7.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8.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9.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image" Target="../media/image2.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1.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2.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3.xml"/><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4.xml"/><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5.xml"/><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6.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75310" y="-619760"/>
            <a:ext cx="6974205" cy="7477760"/>
          </a:xfrm>
          <a:prstGeom prst="rect">
            <a:avLst/>
          </a:prstGeom>
          <a:noFill/>
          <a:ln>
            <a:noFill/>
          </a:ln>
        </p:spPr>
        <p:txBody>
          <a:bodyPr wrap="square" rtlCol="0">
            <a:spAutoFit/>
          </a:bodyPr>
          <a:p>
            <a:r>
              <a:rPr lang="en-US" altLang="zh-CN" sz="48000">
                <a:solidFill>
                  <a:srgbClr val="EDD0BB">
                    <a:alpha val="14000"/>
                  </a:srgbClr>
                </a:solidFill>
                <a:latin typeface="Calibri" panose="020F0502020204030204" charset="0"/>
                <a:cs typeface="Calibri" panose="020F0502020204030204" charset="0"/>
                <a:sym typeface="+mn-ea"/>
              </a:rPr>
              <a:t>01</a:t>
            </a:r>
            <a:endParaRPr lang="en-US" altLang="zh-CN" sz="48000">
              <a:solidFill>
                <a:srgbClr val="EDD0BB">
                  <a:alpha val="14000"/>
                </a:srgbClr>
              </a:solidFill>
              <a:latin typeface="Calibri" panose="020F0502020204030204" charset="0"/>
              <a:cs typeface="Calibri" panose="020F0502020204030204" charset="0"/>
              <a:sym typeface="+mn-ea"/>
            </a:endParaRPr>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文本框 44"/>
          <p:cNvSpPr txBox="1"/>
          <p:nvPr/>
        </p:nvSpPr>
        <p:spPr>
          <a:xfrm>
            <a:off x="6837680" y="3665855"/>
            <a:ext cx="3630295" cy="1568450"/>
          </a:xfrm>
          <a:prstGeom prst="rect">
            <a:avLst/>
          </a:prstGeom>
          <a:noFill/>
        </p:spPr>
        <p:txBody>
          <a:bodyPr wrap="square" rtlCol="0">
            <a:spAutoFit/>
          </a:bodyPr>
          <a:p>
            <a:pPr algn="ctr"/>
            <a:r>
              <a:rPr lang="zh-CN" altLang="en-US" sz="3200" spc="100">
                <a:solidFill>
                  <a:srgbClr val="ADBCBE"/>
                </a:solidFill>
                <a:uFillTx/>
                <a:latin typeface="华文中宋" panose="02010600040101010101" charset="-122"/>
                <a:ea typeface="华文中宋" panose="02010600040101010101" charset="-122"/>
                <a:cs typeface="黑体" panose="02010609060101010101" charset="-122"/>
              </a:rPr>
              <a:t>议</a:t>
            </a:r>
            <a:r>
              <a:rPr lang="zh-CN" altLang="en-US" sz="3200" spc="100">
                <a:solidFill>
                  <a:srgbClr val="ADBCBE"/>
                </a:solidFill>
                <a:uFillTx/>
                <a:latin typeface="华文中宋" panose="02010600040101010101" charset="-122"/>
                <a:ea typeface="华文中宋" panose="02010600040101010101" charset="-122"/>
                <a:cs typeface="黑体" panose="02010609060101010101" charset="-122"/>
              </a:rPr>
              <a:t>论文练习</a:t>
            </a:r>
            <a:endParaRPr lang="zh-CN" altLang="en-US" sz="3200" spc="100">
              <a:solidFill>
                <a:srgbClr val="ADBCBE"/>
              </a:solidFill>
              <a:uFillTx/>
              <a:latin typeface="华文中宋" panose="02010600040101010101" charset="-122"/>
              <a:ea typeface="华文中宋" panose="02010600040101010101" charset="-122"/>
              <a:cs typeface="黑体" panose="02010609060101010101" charset="-122"/>
            </a:endParaRPr>
          </a:p>
          <a:p>
            <a:pPr algn="ctr"/>
            <a:r>
              <a:rPr lang="zh-CN" altLang="en-US" sz="3200" spc="100">
                <a:solidFill>
                  <a:srgbClr val="ADBCBE"/>
                </a:solidFill>
                <a:uFillTx/>
                <a:latin typeface="华文中宋" panose="02010600040101010101" charset="-122"/>
                <a:ea typeface="华文中宋" panose="02010600040101010101" charset="-122"/>
                <a:cs typeface="黑体" panose="02010609060101010101" charset="-122"/>
              </a:rPr>
              <a:t>被污染的语言</a:t>
            </a:r>
            <a:endParaRPr lang="zh-CN" altLang="en-US" sz="3200" spc="100">
              <a:solidFill>
                <a:srgbClr val="ADBCBE"/>
              </a:solidFill>
              <a:uFillTx/>
              <a:latin typeface="华文中宋" panose="02010600040101010101" charset="-122"/>
              <a:ea typeface="华文中宋" panose="02010600040101010101" charset="-122"/>
              <a:cs typeface="黑体" panose="02010609060101010101" charset="-122"/>
            </a:endParaRPr>
          </a:p>
          <a:p>
            <a:pPr algn="ctr"/>
            <a:endParaRPr lang="zh-CN" altLang="en-US" sz="3200" spc="100">
              <a:solidFill>
                <a:srgbClr val="ADBCBE"/>
              </a:solidFill>
              <a:uFillTx/>
              <a:latin typeface="华文中宋" panose="02010600040101010101" charset="-122"/>
              <a:ea typeface="华文中宋" panose="02010600040101010101" charset="-122"/>
              <a:cs typeface="黑体" panose="02010609060101010101" charset="-122"/>
            </a:endParaRPr>
          </a:p>
        </p:txBody>
      </p:sp>
      <p:sp>
        <p:nvSpPr>
          <p:cNvPr id="18" name="文本框 17"/>
          <p:cNvSpPr txBox="1"/>
          <p:nvPr/>
        </p:nvSpPr>
        <p:spPr>
          <a:xfrm>
            <a:off x="7248525" y="1490980"/>
            <a:ext cx="1771015" cy="1938020"/>
          </a:xfrm>
          <a:prstGeom prst="rect">
            <a:avLst/>
          </a:prstGeom>
          <a:noFill/>
          <a:ln>
            <a:noFill/>
          </a:ln>
        </p:spPr>
        <p:txBody>
          <a:bodyPr wrap="square" rtlCol="0">
            <a:spAutoFit/>
          </a:bodyPr>
          <a:p>
            <a:r>
              <a:rPr lang="en-US" altLang="zh-CN" sz="6000">
                <a:solidFill>
                  <a:srgbClr val="ADBCBE"/>
                </a:solidFill>
                <a:latin typeface="Calibri" panose="020F0502020204030204" charset="0"/>
                <a:cs typeface="Calibri" panose="020F0502020204030204" charset="0"/>
                <a:sym typeface="+mn-ea"/>
              </a:rPr>
              <a:t>O</a:t>
            </a:r>
            <a:r>
              <a:rPr lang="en-US" altLang="zh-CN" sz="6000">
                <a:solidFill>
                  <a:srgbClr val="ADBCBE"/>
                </a:solidFill>
                <a:latin typeface="Calibri" panose="020F0502020204030204" charset="0"/>
                <a:cs typeface="Calibri" panose="020F0502020204030204" charset="0"/>
                <a:sym typeface="+mn-ea"/>
              </a:rPr>
              <a:t>NE</a:t>
            </a:r>
            <a:endParaRPr lang="en-US" altLang="zh-CN" sz="6000">
              <a:solidFill>
                <a:srgbClr val="ADBCBE"/>
              </a:solidFill>
              <a:latin typeface="Calibri" panose="020F0502020204030204" charset="0"/>
              <a:cs typeface="Calibri" panose="020F0502020204030204" charset="0"/>
              <a:sym typeface="+mn-ea"/>
            </a:endParaRPr>
          </a:p>
        </p:txBody>
      </p:sp>
      <p:sp>
        <p:nvSpPr>
          <p:cNvPr id="6" name="矩形 1"/>
          <p:cNvSpPr/>
          <p:nvPr/>
        </p:nvSpPr>
        <p:spPr>
          <a:xfrm rot="2160000">
            <a:off x="9036050" y="-361950"/>
            <a:ext cx="4394835" cy="4338955"/>
          </a:xfrm>
          <a:prstGeom prst="rect">
            <a:avLst/>
          </a:prstGeom>
          <a:blipFill rotWithShape="1">
            <a:blip r:embed="rId1">
              <a:alphaModFix amt="75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411480"/>
            <a:ext cx="11768455" cy="5262245"/>
          </a:xfrm>
          <a:prstGeom prst="rect">
            <a:avLst/>
          </a:prstGeom>
          <a:noFill/>
        </p:spPr>
        <p:txBody>
          <a:bodyPr wrap="square" rtlCol="0">
            <a:spAutoFit/>
          </a:bodyPr>
          <a:p>
            <a:pPr indent="457200" fontAlgn="auto">
              <a:lnSpc>
                <a:spcPct val="100000"/>
              </a:lnSpc>
            </a:pPr>
            <a:r>
              <a:rPr lang="en-US" altLang="en-US" sz="2800">
                <a:latin typeface="宋体" pitchFamily="2" charset="-122"/>
                <a:ea typeface="宋体" pitchFamily="2" charset="-122"/>
              </a:rPr>
              <a:t>①</a:t>
            </a:r>
            <a:r>
              <a:rPr lang="zh-CN" altLang="en-US" sz="2800">
                <a:latin typeface="宋体" pitchFamily="2" charset="-122"/>
                <a:ea typeface="宋体" pitchFamily="2" charset="-122"/>
              </a:rPr>
              <a:t>最近几天的社交媒体，差不多都被</a:t>
            </a:r>
            <a:r>
              <a:rPr lang="en-US" altLang="zh-CN" sz="2800">
                <a:latin typeface="宋体" pitchFamily="2" charset="-122"/>
                <a:ea typeface="宋体" pitchFamily="2" charset="-122"/>
              </a:rPr>
              <a:t>“</a:t>
            </a:r>
            <a:r>
              <a:rPr lang="zh-CN" altLang="en-US" sz="2800">
                <a:latin typeface="宋体" pitchFamily="2" charset="-122"/>
                <a:ea typeface="宋体" pitchFamily="2" charset="-122"/>
              </a:rPr>
              <a:t>后浪</a:t>
            </a:r>
            <a:r>
              <a:rPr lang="en-US" altLang="zh-CN" sz="2800">
                <a:latin typeface="宋体" pitchFamily="2" charset="-122"/>
                <a:ea typeface="宋体" pitchFamily="2" charset="-122"/>
              </a:rPr>
              <a:t>”</a:t>
            </a:r>
            <a:r>
              <a:rPr lang="zh-CN" altLang="en-US" sz="2800">
                <a:latin typeface="宋体" pitchFamily="2" charset="-122"/>
                <a:ea typeface="宋体" pitchFamily="2" charset="-122"/>
              </a:rPr>
              <a:t>这个词刷屏：以</a:t>
            </a:r>
            <a:r>
              <a:rPr lang="en-US" altLang="zh-CN" sz="2800">
                <a:latin typeface="宋体" pitchFamily="2" charset="-122"/>
                <a:ea typeface="宋体" pitchFamily="2" charset="-122"/>
              </a:rPr>
              <a:t>“</a:t>
            </a:r>
            <a:r>
              <a:rPr lang="zh-CN" altLang="en-US" sz="2800">
                <a:latin typeface="宋体" pitchFamily="2" charset="-122"/>
                <a:ea typeface="宋体" pitchFamily="2" charset="-122"/>
              </a:rPr>
              <a:t>前浪</a:t>
            </a:r>
            <a:r>
              <a:rPr lang="en-US" altLang="zh-CN" sz="2800">
                <a:latin typeface="宋体" pitchFamily="2" charset="-122"/>
                <a:ea typeface="宋体" pitchFamily="2" charset="-122"/>
              </a:rPr>
              <a:t>”</a:t>
            </a:r>
            <a:r>
              <a:rPr lang="zh-CN" altLang="en-US" sz="2800">
                <a:latin typeface="宋体" pitchFamily="2" charset="-122"/>
                <a:ea typeface="宋体" pitchFamily="2" charset="-122"/>
              </a:rPr>
              <a:t>和</a:t>
            </a:r>
            <a:r>
              <a:rPr lang="en-US" altLang="zh-CN" sz="2800">
                <a:latin typeface="宋体" pitchFamily="2" charset="-122"/>
                <a:ea typeface="宋体" pitchFamily="2" charset="-122"/>
              </a:rPr>
              <a:t>“</a:t>
            </a:r>
            <a:r>
              <a:rPr lang="zh-CN" altLang="en-US" sz="2800">
                <a:latin typeface="宋体" pitchFamily="2" charset="-122"/>
                <a:ea typeface="宋体" pitchFamily="2" charset="-122"/>
              </a:rPr>
              <a:t>后浪</a:t>
            </a:r>
            <a:r>
              <a:rPr lang="en-US" altLang="zh-CN" sz="2800">
                <a:latin typeface="宋体" pitchFamily="2" charset="-122"/>
                <a:ea typeface="宋体" pitchFamily="2" charset="-122"/>
              </a:rPr>
              <a:t>”</a:t>
            </a:r>
            <a:r>
              <a:rPr lang="zh-CN" altLang="en-US" sz="2800">
                <a:latin typeface="宋体" pitchFamily="2" charset="-122"/>
                <a:ea typeface="宋体" pitchFamily="2" charset="-122"/>
              </a:rPr>
              <a:t>两个词，代表所谓的</a:t>
            </a:r>
            <a:r>
              <a:rPr lang="en-US" altLang="zh-CN" sz="2800">
                <a:latin typeface="宋体" pitchFamily="2" charset="-122"/>
                <a:ea typeface="宋体" pitchFamily="2" charset="-122"/>
              </a:rPr>
              <a:t>“</a:t>
            </a:r>
            <a:r>
              <a:rPr lang="zh-CN" altLang="en-US" sz="2800">
                <a:latin typeface="宋体" pitchFamily="2" charset="-122"/>
                <a:ea typeface="宋体" pitchFamily="2" charset="-122"/>
              </a:rPr>
              <a:t>老一代</a:t>
            </a:r>
            <a:r>
              <a:rPr lang="en-US" altLang="zh-CN" sz="2800">
                <a:latin typeface="宋体" pitchFamily="2" charset="-122"/>
                <a:ea typeface="宋体" pitchFamily="2" charset="-122"/>
              </a:rPr>
              <a:t>”</a:t>
            </a:r>
            <a:r>
              <a:rPr lang="zh-CN" altLang="en-US" sz="2800">
                <a:latin typeface="宋体" pitchFamily="2" charset="-122"/>
                <a:ea typeface="宋体" pitchFamily="2" charset="-122"/>
              </a:rPr>
              <a:t>和</a:t>
            </a:r>
            <a:r>
              <a:rPr lang="en-US" altLang="zh-CN" sz="2800">
                <a:latin typeface="宋体" pitchFamily="2" charset="-122"/>
                <a:ea typeface="宋体" pitchFamily="2" charset="-122"/>
              </a:rPr>
              <a:t>“</a:t>
            </a:r>
            <a:r>
              <a:rPr lang="zh-CN" altLang="en-US" sz="2800">
                <a:latin typeface="宋体" pitchFamily="2" charset="-122"/>
                <a:ea typeface="宋体" pitchFamily="2" charset="-122"/>
              </a:rPr>
              <a:t>年轻人</a:t>
            </a:r>
            <a:r>
              <a:rPr lang="en-US" altLang="zh-CN" sz="2800">
                <a:latin typeface="宋体" pitchFamily="2" charset="-122"/>
                <a:ea typeface="宋体" pitchFamily="2" charset="-122"/>
              </a:rPr>
              <a:t>”</a:t>
            </a:r>
            <a:r>
              <a:rPr lang="zh-CN" altLang="en-US" sz="2800">
                <a:latin typeface="宋体" pitchFamily="2" charset="-122"/>
                <a:ea typeface="宋体" pitchFamily="2" charset="-122"/>
              </a:rPr>
              <a:t>。</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②</a:t>
            </a:r>
            <a:r>
              <a:rPr lang="zh-CN" altLang="en-US" sz="2800">
                <a:latin typeface="宋体" pitchFamily="2" charset="-122"/>
                <a:ea typeface="宋体" pitchFamily="2" charset="-122"/>
              </a:rPr>
              <a:t>然而，在现代社会中，这种</a:t>
            </a:r>
            <a:r>
              <a:rPr lang="en-US" altLang="zh-CN" sz="2800">
                <a:latin typeface="宋体" pitchFamily="2" charset="-122"/>
                <a:ea typeface="宋体" pitchFamily="2" charset="-122"/>
              </a:rPr>
              <a:t>“</a:t>
            </a:r>
            <a:r>
              <a:rPr lang="zh-CN" altLang="en-US" sz="2800">
                <a:latin typeface="宋体" pitchFamily="2" charset="-122"/>
                <a:ea typeface="宋体" pitchFamily="2" charset="-122"/>
              </a:rPr>
              <a:t>含义逐步简化，最后直接使用</a:t>
            </a:r>
            <a:r>
              <a:rPr lang="en-US" altLang="zh-CN" sz="2800">
                <a:latin typeface="宋体" pitchFamily="2" charset="-122"/>
                <a:ea typeface="宋体" pitchFamily="2" charset="-122"/>
              </a:rPr>
              <a:t>”</a:t>
            </a:r>
            <a:r>
              <a:rPr lang="zh-CN" altLang="en-US" sz="2800">
                <a:latin typeface="宋体" pitchFamily="2" charset="-122"/>
                <a:ea typeface="宋体" pitchFamily="2" charset="-122"/>
              </a:rPr>
              <a:t>的语言处理方式，开始在我们的文化生活乃至日常生活中泛滥，让我们的语言和思考日渐分离。所谓</a:t>
            </a:r>
            <a:r>
              <a:rPr lang="en-US" altLang="zh-CN" sz="2800">
                <a:latin typeface="宋体" pitchFamily="2" charset="-122"/>
                <a:ea typeface="宋体" pitchFamily="2" charset="-122"/>
              </a:rPr>
              <a:t>“</a:t>
            </a:r>
            <a:r>
              <a:rPr lang="zh-CN" altLang="en-US" sz="2800">
                <a:latin typeface="宋体" pitchFamily="2" charset="-122"/>
                <a:ea typeface="宋体" pitchFamily="2" charset="-122"/>
              </a:rPr>
              <a:t>语言污染</a:t>
            </a:r>
            <a:r>
              <a:rPr lang="en-US" altLang="zh-CN" sz="2800">
                <a:latin typeface="宋体" pitchFamily="2" charset="-122"/>
                <a:ea typeface="宋体" pitchFamily="2" charset="-122"/>
              </a:rPr>
              <a:t>”</a:t>
            </a:r>
            <a:r>
              <a:rPr lang="zh-CN" altLang="en-US" sz="2800">
                <a:latin typeface="宋体" pitchFamily="2" charset="-122"/>
                <a:ea typeface="宋体" pitchFamily="2" charset="-122"/>
              </a:rPr>
              <a:t>，或者说</a:t>
            </a:r>
            <a:r>
              <a:rPr lang="en-US" altLang="zh-CN" sz="2800">
                <a:latin typeface="宋体" pitchFamily="2" charset="-122"/>
                <a:ea typeface="宋体" pitchFamily="2" charset="-122"/>
              </a:rPr>
              <a:t>“</a:t>
            </a:r>
            <a:r>
              <a:rPr lang="zh-CN" altLang="en-US" sz="2800">
                <a:latin typeface="宋体" pitchFamily="2" charset="-122"/>
                <a:ea typeface="宋体" pitchFamily="2" charset="-122"/>
              </a:rPr>
              <a:t>语言腐败</a:t>
            </a:r>
            <a:r>
              <a:rPr lang="en-US" altLang="zh-CN" sz="2800">
                <a:latin typeface="宋体" pitchFamily="2" charset="-122"/>
                <a:ea typeface="宋体" pitchFamily="2" charset="-122"/>
              </a:rPr>
              <a:t>”</a:t>
            </a:r>
            <a:r>
              <a:rPr lang="zh-CN" altLang="en-US" sz="2800">
                <a:latin typeface="宋体" pitchFamily="2" charset="-122"/>
                <a:ea typeface="宋体" pitchFamily="2" charset="-122"/>
              </a:rPr>
              <a:t>，也就此产生。</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③</a:t>
            </a:r>
            <a:r>
              <a:rPr lang="en-US" altLang="zh-CN" sz="2800">
                <a:latin typeface="宋体" pitchFamily="2" charset="-122"/>
                <a:ea typeface="宋体" pitchFamily="2" charset="-122"/>
              </a:rPr>
              <a:t>“</a:t>
            </a:r>
            <a:r>
              <a:rPr lang="zh-CN" altLang="en-US" sz="2800">
                <a:latin typeface="宋体" pitchFamily="2" charset="-122"/>
                <a:ea typeface="宋体" pitchFamily="2" charset="-122"/>
              </a:rPr>
              <a:t>语言污染</a:t>
            </a:r>
            <a:r>
              <a:rPr lang="en-US" altLang="zh-CN" sz="2800">
                <a:latin typeface="宋体" pitchFamily="2" charset="-122"/>
                <a:ea typeface="宋体" pitchFamily="2" charset="-122"/>
              </a:rPr>
              <a:t>”</a:t>
            </a:r>
            <a:r>
              <a:rPr lang="zh-CN" altLang="en-US" sz="2800">
                <a:latin typeface="宋体" pitchFamily="2" charset="-122"/>
                <a:ea typeface="宋体" pitchFamily="2" charset="-122"/>
              </a:rPr>
              <a:t>并不是一个新现象，早在上世纪八十年代，语言学家陈原就已经在《语言与社会生活》中提出，我们每天都在使用的语言，其实是可以被污染的：</a:t>
            </a:r>
            <a:r>
              <a:rPr lang="en-US" altLang="zh-CN" sz="2800">
                <a:latin typeface="宋体" pitchFamily="2" charset="-122"/>
                <a:ea typeface="宋体" pitchFamily="2" charset="-122"/>
              </a:rPr>
              <a:t>“</a:t>
            </a:r>
            <a:r>
              <a:rPr lang="zh-CN" altLang="en-US" sz="2800">
                <a:latin typeface="宋体" pitchFamily="2" charset="-122"/>
                <a:ea typeface="宋体" pitchFamily="2" charset="-122"/>
              </a:rPr>
              <a:t>如果在日常生活中，在我们的社会生活中，充斥着许多看起来很正确，但实际上已不传达任何有效信息的语言，那么语言有什么用呢？这是我们经历到的一种污染灾难。</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④</a:t>
            </a:r>
            <a:r>
              <a:rPr lang="zh-CN" altLang="en-US" sz="2800">
                <a:latin typeface="宋体" pitchFamily="2" charset="-122"/>
                <a:ea typeface="宋体" pitchFamily="2" charset="-122"/>
              </a:rPr>
              <a:t>被污染的语言，是什么样子的？</a:t>
            </a:r>
            <a:endParaRPr lang="zh-CN" altLang="en-US" sz="2800">
              <a:latin typeface="宋体" pitchFamily="2" charset="-122"/>
              <a:ea typeface="宋体" pitchFamily="2" charset="-122"/>
            </a:endParaRPr>
          </a:p>
          <a:p>
            <a:pPr indent="457200" fontAlgn="auto">
              <a:lnSpc>
                <a:spcPct val="100000"/>
              </a:lnSpc>
            </a:pPr>
            <a:endParaRPr lang="zh-CN" altLang="en-US" sz="2800">
              <a:latin typeface="宋体" pitchFamily="2" charset="-122"/>
              <a:ea typeface="宋体" pitchFamily="2"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750570"/>
            <a:ext cx="11768455" cy="6123940"/>
          </a:xfrm>
          <a:prstGeom prst="rect">
            <a:avLst/>
          </a:prstGeom>
          <a:noFill/>
        </p:spPr>
        <p:txBody>
          <a:bodyPr wrap="square" rtlCol="0">
            <a:spAutoFit/>
          </a:bodyPr>
          <a:p>
            <a:pPr indent="457200" fontAlgn="auto">
              <a:lnSpc>
                <a:spcPct val="100000"/>
              </a:lnSpc>
            </a:pPr>
            <a:r>
              <a:rPr lang="en-US" altLang="en-US" sz="2800">
                <a:latin typeface="宋体" pitchFamily="2" charset="-122"/>
                <a:ea typeface="宋体" pitchFamily="2" charset="-122"/>
              </a:rPr>
              <a:t>⑤</a:t>
            </a:r>
            <a:r>
              <a:rPr lang="zh-CN" altLang="en-US" sz="2800">
                <a:latin typeface="宋体" pitchFamily="2" charset="-122"/>
                <a:ea typeface="宋体" pitchFamily="2" charset="-122"/>
              </a:rPr>
              <a:t>最容易被观察到的特征，是语言丰富性的丧失：一些简单化、符号化、便于记忆的词汇被大量使用，概括的却是一些复杂到并不适用的事物，比如人类社会，人的思想。个人领域的简单化的语言习惯泛滥成灾，我们对人类情感的理解力就会变得匮乏。而在公共领域，则会导致公共讨论和公共理性的缺失：分析事实、提出观点，为自己的观点辩护、进而寻求更多人的认同，如今，这样的正常实践却被</a:t>
            </a:r>
            <a:r>
              <a:rPr lang="en-US" altLang="zh-CN" sz="2800">
                <a:latin typeface="宋体" pitchFamily="2" charset="-122"/>
                <a:ea typeface="宋体" pitchFamily="2" charset="-122"/>
              </a:rPr>
              <a:t>“</a:t>
            </a:r>
            <a:r>
              <a:rPr lang="zh-CN" altLang="en-US" sz="2800">
                <a:latin typeface="宋体" pitchFamily="2" charset="-122"/>
                <a:ea typeface="宋体" pitchFamily="2" charset="-122"/>
              </a:rPr>
              <a:t>带节奏</a:t>
            </a:r>
            <a:r>
              <a:rPr lang="en-US" altLang="zh-CN" sz="2800">
                <a:latin typeface="宋体" pitchFamily="2" charset="-122"/>
                <a:ea typeface="宋体" pitchFamily="2" charset="-122"/>
              </a:rPr>
              <a:t>”</a:t>
            </a:r>
            <a:r>
              <a:rPr lang="zh-CN" altLang="en-US" sz="2800">
                <a:latin typeface="宋体" pitchFamily="2" charset="-122"/>
                <a:ea typeface="宋体" pitchFamily="2" charset="-122"/>
              </a:rPr>
              <a:t>和</a:t>
            </a:r>
            <a:r>
              <a:rPr lang="en-US" altLang="zh-CN" sz="2800">
                <a:latin typeface="宋体" pitchFamily="2" charset="-122"/>
                <a:ea typeface="宋体" pitchFamily="2" charset="-122"/>
              </a:rPr>
              <a:t>“</a:t>
            </a:r>
            <a:r>
              <a:rPr lang="zh-CN" altLang="en-US" sz="2800">
                <a:latin typeface="宋体" pitchFamily="2" charset="-122"/>
                <a:ea typeface="宋体" pitchFamily="2" charset="-122"/>
              </a:rPr>
              <a:t>夹带私货</a:t>
            </a:r>
            <a:r>
              <a:rPr lang="en-US" altLang="zh-CN" sz="2800">
                <a:latin typeface="宋体" pitchFamily="2" charset="-122"/>
                <a:ea typeface="宋体" pitchFamily="2" charset="-122"/>
              </a:rPr>
              <a:t>”</a:t>
            </a:r>
            <a:r>
              <a:rPr lang="zh-CN" altLang="en-US" sz="2800">
                <a:latin typeface="宋体" pitchFamily="2" charset="-122"/>
                <a:ea typeface="宋体" pitchFamily="2" charset="-122"/>
              </a:rPr>
              <a:t>等词汇遮蔽。</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⑥</a:t>
            </a:r>
            <a:r>
              <a:rPr lang="zh-CN" altLang="en-US" sz="2800">
                <a:latin typeface="宋体" pitchFamily="2" charset="-122"/>
                <a:ea typeface="宋体" pitchFamily="2" charset="-122"/>
              </a:rPr>
              <a:t>语言污染的第二重特征，是一些词汇的词义变得歪曲或空洞。本来，对于任何一门语言来说，词义随着时间变化而改变是再正常不过的规律。然而，如果这种变化带来的改变，是让我们的认知更加狭隘而不是更加丰富的时候，语言的污染，或者说腐败也就发生了。</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⑦</a:t>
            </a:r>
            <a:r>
              <a:rPr lang="zh-CN" altLang="en-US" sz="2800">
                <a:latin typeface="宋体" pitchFamily="2" charset="-122"/>
                <a:ea typeface="宋体" pitchFamily="2" charset="-122"/>
              </a:rPr>
              <a:t>是什么在污染语言？我们的语言之所以被污染至如此地步，原因是多方面的。</a:t>
            </a:r>
            <a:endParaRPr lang="zh-CN" altLang="en-US" sz="2800">
              <a:latin typeface="宋体" pitchFamily="2" charset="-122"/>
              <a:ea typeface="宋体" pitchFamily="2" charset="-122"/>
            </a:endParaRPr>
          </a:p>
          <a:p>
            <a:pPr indent="457200" fontAlgn="auto">
              <a:lnSpc>
                <a:spcPct val="100000"/>
              </a:lnSpc>
            </a:pPr>
            <a:endParaRPr lang="zh-CN" altLang="en-US" sz="2800">
              <a:latin typeface="宋体" pitchFamily="2" charset="-122"/>
              <a:ea typeface="宋体" pitchFamily="2" charset="-122"/>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333375"/>
            <a:ext cx="11768455" cy="6123940"/>
          </a:xfrm>
          <a:prstGeom prst="rect">
            <a:avLst/>
          </a:prstGeom>
          <a:noFill/>
        </p:spPr>
        <p:txBody>
          <a:bodyPr wrap="square" rtlCol="0">
            <a:spAutoFit/>
          </a:bodyPr>
          <a:p>
            <a:pPr indent="457200" fontAlgn="auto">
              <a:lnSpc>
                <a:spcPct val="100000"/>
              </a:lnSpc>
            </a:pPr>
            <a:r>
              <a:rPr lang="en-US" altLang="en-US" sz="2800">
                <a:latin typeface="宋体" pitchFamily="2" charset="-122"/>
                <a:ea typeface="宋体" pitchFamily="2" charset="-122"/>
                <a:sym typeface="+mn-ea"/>
              </a:rPr>
              <a:t>⑧</a:t>
            </a:r>
            <a:r>
              <a:rPr lang="zh-CN" altLang="en-US" sz="2800">
                <a:latin typeface="宋体" pitchFamily="2" charset="-122"/>
                <a:ea typeface="宋体" pitchFamily="2" charset="-122"/>
                <a:sym typeface="+mn-ea"/>
              </a:rPr>
              <a:t>首先，互联网时代人与人之间的交往关系，让</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社交</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和</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讨论</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之间的界限变得模糊。我们每个人都被卷入与陌生人的交往当中，却并没有为此做好准备。导致让我们感觉到的不再是</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打开了新世界的大门</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，而是</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舒适的日常社交环境被打破、被冒犯了</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，我们自然会本能地去追求快准狠地回应别人，而不会主动反思自己参与的对话是否有助于增进对事物的认识。从这样的需求出发，每个人都在重复使用并理解的，蕴含特定情绪或立场的</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金句</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、流行词、口号</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或者一言以蔽之，</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梗</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就获得了相对于书面语的优势地位，并开始影响我们的思考。</a:t>
            </a:r>
            <a:endParaRPr lang="zh-CN" altLang="en-US" sz="2800">
              <a:latin typeface="宋体" pitchFamily="2" charset="-122"/>
              <a:ea typeface="宋体" pitchFamily="2" charset="-122"/>
              <a:sym typeface="+mn-ea"/>
            </a:endParaRPr>
          </a:p>
          <a:p>
            <a:pPr indent="457200" fontAlgn="auto">
              <a:lnSpc>
                <a:spcPct val="100000"/>
              </a:lnSpc>
            </a:pPr>
            <a:r>
              <a:rPr lang="en-US" altLang="en-US" sz="2800">
                <a:latin typeface="宋体" pitchFamily="2" charset="-122"/>
                <a:ea typeface="宋体" pitchFamily="2" charset="-122"/>
              </a:rPr>
              <a:t>⑨</a:t>
            </a:r>
            <a:r>
              <a:rPr lang="zh-CN" altLang="en-US" sz="2800">
                <a:latin typeface="宋体" pitchFamily="2" charset="-122"/>
                <a:ea typeface="宋体" pitchFamily="2" charset="-122"/>
              </a:rPr>
              <a:t>当代人精神生活普遍的消费化，也是语言腐败的一大原因。在当代社会，消费作为一种</a:t>
            </a:r>
            <a:r>
              <a:rPr lang="en-US" altLang="zh-CN" sz="2800">
                <a:latin typeface="宋体" pitchFamily="2" charset="-122"/>
                <a:ea typeface="宋体" pitchFamily="2" charset="-122"/>
              </a:rPr>
              <a:t>“</a:t>
            </a:r>
            <a:r>
              <a:rPr lang="zh-CN" altLang="en-US" sz="2800">
                <a:latin typeface="宋体" pitchFamily="2" charset="-122"/>
                <a:ea typeface="宋体" pitchFamily="2" charset="-122"/>
              </a:rPr>
              <a:t>主义</a:t>
            </a:r>
            <a:r>
              <a:rPr lang="en-US" altLang="zh-CN" sz="2800">
                <a:latin typeface="宋体" pitchFamily="2" charset="-122"/>
                <a:ea typeface="宋体" pitchFamily="2" charset="-122"/>
              </a:rPr>
              <a:t>”</a:t>
            </a:r>
            <a:r>
              <a:rPr lang="zh-CN" altLang="en-US" sz="2800">
                <a:latin typeface="宋体" pitchFamily="2" charset="-122"/>
                <a:ea typeface="宋体" pitchFamily="2" charset="-122"/>
              </a:rPr>
              <a:t>四处泛滥，精神生活也成为物质消费的某种</a:t>
            </a:r>
            <a:r>
              <a:rPr lang="en-US" altLang="zh-CN" sz="2800">
                <a:latin typeface="宋体" pitchFamily="2" charset="-122"/>
                <a:ea typeface="宋体" pitchFamily="2" charset="-122"/>
              </a:rPr>
              <a:t>“</a:t>
            </a:r>
            <a:r>
              <a:rPr lang="zh-CN" altLang="en-US" sz="2800">
                <a:latin typeface="宋体" pitchFamily="2" charset="-122"/>
                <a:ea typeface="宋体" pitchFamily="2" charset="-122"/>
              </a:rPr>
              <a:t>影子</a:t>
            </a:r>
            <a:r>
              <a:rPr lang="en-US" altLang="zh-CN" sz="2800">
                <a:latin typeface="宋体" pitchFamily="2" charset="-122"/>
                <a:ea typeface="宋体" pitchFamily="2" charset="-122"/>
              </a:rPr>
              <a:t>”</a:t>
            </a:r>
            <a:r>
              <a:rPr lang="zh-CN" altLang="en-US" sz="2800">
                <a:latin typeface="宋体" pitchFamily="2" charset="-122"/>
                <a:ea typeface="宋体" pitchFamily="2" charset="-122"/>
              </a:rPr>
              <a:t>。在这种精神生活当中，我们自然习惯于使用那些不至于让自己和他人都费力思考，同时又新潮时髦的</a:t>
            </a:r>
            <a:r>
              <a:rPr lang="en-US" altLang="zh-CN" sz="2800">
                <a:latin typeface="宋体" pitchFamily="2" charset="-122"/>
                <a:ea typeface="宋体" pitchFamily="2" charset="-122"/>
              </a:rPr>
              <a:t>“</a:t>
            </a:r>
            <a:r>
              <a:rPr lang="zh-CN" altLang="en-US" sz="2800">
                <a:latin typeface="宋体" pitchFamily="2" charset="-122"/>
                <a:ea typeface="宋体" pitchFamily="2" charset="-122"/>
              </a:rPr>
              <a:t>新话</a:t>
            </a:r>
            <a:r>
              <a:rPr lang="en-US" altLang="zh-CN" sz="2800">
                <a:latin typeface="宋体" pitchFamily="2" charset="-122"/>
                <a:ea typeface="宋体" pitchFamily="2" charset="-122"/>
              </a:rPr>
              <a:t>”</a:t>
            </a:r>
            <a:r>
              <a:rPr lang="zh-CN" altLang="en-US" sz="2800">
                <a:latin typeface="宋体" pitchFamily="2" charset="-122"/>
                <a:ea typeface="宋体" pitchFamily="2" charset="-122"/>
              </a:rPr>
              <a:t>：明星网红是</a:t>
            </a:r>
            <a:r>
              <a:rPr lang="en-US" altLang="zh-CN" sz="2800">
                <a:latin typeface="宋体" pitchFamily="2" charset="-122"/>
                <a:ea typeface="宋体" pitchFamily="2" charset="-122"/>
              </a:rPr>
              <a:t>“</a:t>
            </a:r>
            <a:r>
              <a:rPr lang="zh-CN" altLang="en-US" sz="2800">
                <a:latin typeface="宋体" pitchFamily="2" charset="-122"/>
                <a:ea typeface="宋体" pitchFamily="2" charset="-122"/>
              </a:rPr>
              <a:t>带货达人</a:t>
            </a:r>
            <a:r>
              <a:rPr lang="en-US" altLang="zh-CN" sz="2800">
                <a:latin typeface="宋体" pitchFamily="2" charset="-122"/>
                <a:ea typeface="宋体" pitchFamily="2" charset="-122"/>
              </a:rPr>
              <a:t>”</a:t>
            </a:r>
            <a:r>
              <a:rPr lang="zh-CN" altLang="en-US" sz="2800">
                <a:latin typeface="宋体" pitchFamily="2" charset="-122"/>
                <a:ea typeface="宋体" pitchFamily="2" charset="-122"/>
              </a:rPr>
              <a:t>，给自己买东西是</a:t>
            </a:r>
            <a:r>
              <a:rPr lang="en-US" altLang="zh-CN" sz="2800">
                <a:latin typeface="宋体" pitchFamily="2" charset="-122"/>
                <a:ea typeface="宋体" pitchFamily="2" charset="-122"/>
              </a:rPr>
              <a:t>“</a:t>
            </a:r>
            <a:r>
              <a:rPr lang="zh-CN" altLang="en-US" sz="2800">
                <a:latin typeface="宋体" pitchFamily="2" charset="-122"/>
                <a:ea typeface="宋体" pitchFamily="2" charset="-122"/>
              </a:rPr>
              <a:t>取悦自己</a:t>
            </a:r>
            <a:r>
              <a:rPr lang="en-US" altLang="zh-CN" sz="2800">
                <a:latin typeface="宋体" pitchFamily="2" charset="-122"/>
                <a:ea typeface="宋体" pitchFamily="2" charset="-122"/>
              </a:rPr>
              <a:t>”</a:t>
            </a:r>
            <a:r>
              <a:rPr lang="zh-CN" altLang="en-US" sz="2800">
                <a:latin typeface="宋体" pitchFamily="2" charset="-122"/>
                <a:ea typeface="宋体" pitchFamily="2" charset="-122"/>
              </a:rPr>
              <a:t>，健身锻炼是</a:t>
            </a:r>
            <a:r>
              <a:rPr lang="en-US" altLang="zh-CN" sz="2800">
                <a:latin typeface="宋体" pitchFamily="2" charset="-122"/>
                <a:ea typeface="宋体" pitchFamily="2" charset="-122"/>
              </a:rPr>
              <a:t>“</a:t>
            </a:r>
            <a:r>
              <a:rPr lang="zh-CN" altLang="en-US" sz="2800">
                <a:latin typeface="宋体" pitchFamily="2" charset="-122"/>
                <a:ea typeface="宋体" pitchFamily="2" charset="-122"/>
              </a:rPr>
              <a:t>身体管理</a:t>
            </a:r>
            <a:r>
              <a:rPr lang="en-US" altLang="zh-CN" sz="2800">
                <a:latin typeface="宋体" pitchFamily="2" charset="-122"/>
                <a:ea typeface="宋体" pitchFamily="2" charset="-122"/>
              </a:rPr>
              <a:t>”</a:t>
            </a:r>
            <a:r>
              <a:rPr lang="zh-CN" altLang="en-US" sz="2800">
                <a:latin typeface="宋体" pitchFamily="2" charset="-122"/>
                <a:ea typeface="宋体" pitchFamily="2" charset="-122"/>
              </a:rPr>
              <a:t>，工作学习是</a:t>
            </a:r>
            <a:r>
              <a:rPr lang="en-US" altLang="zh-CN" sz="2800">
                <a:latin typeface="宋体" pitchFamily="2" charset="-122"/>
                <a:ea typeface="宋体" pitchFamily="2" charset="-122"/>
              </a:rPr>
              <a:t>“</a:t>
            </a:r>
            <a:r>
              <a:rPr lang="zh-CN" altLang="en-US" sz="2800">
                <a:latin typeface="宋体" pitchFamily="2" charset="-122"/>
                <a:ea typeface="宋体" pitchFamily="2" charset="-122"/>
              </a:rPr>
              <a:t>自我优化</a:t>
            </a:r>
            <a:r>
              <a:rPr lang="en-US" altLang="zh-CN" sz="2800">
                <a:latin typeface="宋体" pitchFamily="2" charset="-122"/>
                <a:ea typeface="宋体" pitchFamily="2" charset="-122"/>
              </a:rPr>
              <a:t>”</a:t>
            </a:r>
            <a:r>
              <a:rPr lang="zh-CN" altLang="en-US" sz="2800">
                <a:latin typeface="宋体" pitchFamily="2" charset="-122"/>
                <a:ea typeface="宋体" pitchFamily="2" charset="-122"/>
              </a:rPr>
              <a:t>；一切都是商品，一切都可以被物化。</a:t>
            </a:r>
            <a:endParaRPr lang="zh-CN" altLang="en-US" sz="2800">
              <a:latin typeface="宋体" pitchFamily="2" charset="-122"/>
              <a:ea typeface="宋体" pitchFamily="2"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263525"/>
            <a:ext cx="11768455" cy="6123940"/>
          </a:xfrm>
          <a:prstGeom prst="rect">
            <a:avLst/>
          </a:prstGeom>
          <a:noFill/>
        </p:spPr>
        <p:txBody>
          <a:bodyPr wrap="square" rtlCol="0">
            <a:spAutoFit/>
          </a:bodyPr>
          <a:p>
            <a:pPr indent="457200" fontAlgn="auto">
              <a:lnSpc>
                <a:spcPct val="100000"/>
              </a:lnSpc>
            </a:pPr>
            <a:r>
              <a:rPr lang="en-US" altLang="en-US" sz="2800">
                <a:latin typeface="宋体" pitchFamily="2" charset="-122"/>
                <a:ea typeface="宋体" pitchFamily="2" charset="-122"/>
              </a:rPr>
              <a:t>⑩</a:t>
            </a:r>
            <a:r>
              <a:rPr lang="zh-CN" altLang="en-US" sz="2800">
                <a:latin typeface="宋体" pitchFamily="2" charset="-122"/>
                <a:ea typeface="宋体" pitchFamily="2" charset="-122"/>
              </a:rPr>
              <a:t>最后，圈层亚文化的扩展，成为了语言污染的直接来源。例如，以</a:t>
            </a:r>
            <a:r>
              <a:rPr lang="en-US" altLang="zh-CN" sz="2800">
                <a:latin typeface="宋体" pitchFamily="2" charset="-122"/>
                <a:ea typeface="宋体" pitchFamily="2" charset="-122"/>
              </a:rPr>
              <a:t>emoji</a:t>
            </a:r>
            <a:r>
              <a:rPr lang="zh-CN" altLang="en-US" sz="2800">
                <a:latin typeface="宋体" pitchFamily="2" charset="-122"/>
                <a:ea typeface="宋体" pitchFamily="2" charset="-122"/>
              </a:rPr>
              <a:t>、表情包和一些网络粗口，来源于某位主播的粉丝圈所使用的</a:t>
            </a:r>
            <a:r>
              <a:rPr lang="en-US" altLang="zh-CN" sz="2800">
                <a:latin typeface="宋体" pitchFamily="2" charset="-122"/>
                <a:ea typeface="宋体" pitchFamily="2" charset="-122"/>
              </a:rPr>
              <a:t>“</a:t>
            </a:r>
            <a:r>
              <a:rPr lang="zh-CN" altLang="en-US" sz="2800">
                <a:latin typeface="宋体" pitchFamily="2" charset="-122"/>
                <a:ea typeface="宋体" pitchFamily="2" charset="-122"/>
              </a:rPr>
              <a:t>抽象话</a:t>
            </a:r>
            <a:r>
              <a:rPr lang="en-US" altLang="zh-CN" sz="2800">
                <a:latin typeface="宋体" pitchFamily="2" charset="-122"/>
                <a:ea typeface="宋体" pitchFamily="2" charset="-122"/>
              </a:rPr>
              <a:t>”</a:t>
            </a:r>
            <a:r>
              <a:rPr lang="zh-CN" altLang="en-US" sz="2800">
                <a:latin typeface="宋体" pitchFamily="2" charset="-122"/>
                <a:ea typeface="宋体" pitchFamily="2" charset="-122"/>
              </a:rPr>
              <a:t>。这样的流行词，确实在部分人当中取得了共鸣和</a:t>
            </a:r>
            <a:r>
              <a:rPr lang="en-US" altLang="zh-CN" sz="2800">
                <a:latin typeface="宋体" pitchFamily="2" charset="-122"/>
                <a:ea typeface="宋体" pitchFamily="2" charset="-122"/>
              </a:rPr>
              <a:t>“</a:t>
            </a:r>
            <a:r>
              <a:rPr lang="zh-CN" altLang="en-US" sz="2800">
                <a:latin typeface="宋体" pitchFamily="2" charset="-122"/>
                <a:ea typeface="宋体" pitchFamily="2" charset="-122"/>
              </a:rPr>
              <a:t>为了好玩</a:t>
            </a:r>
            <a:r>
              <a:rPr lang="en-US" altLang="zh-CN" sz="2800">
                <a:latin typeface="宋体" pitchFamily="2" charset="-122"/>
                <a:ea typeface="宋体" pitchFamily="2" charset="-122"/>
              </a:rPr>
              <a:t>”</a:t>
            </a:r>
            <a:r>
              <a:rPr lang="zh-CN" altLang="en-US" sz="2800">
                <a:latin typeface="宋体" pitchFamily="2" charset="-122"/>
                <a:ea typeface="宋体" pitchFamily="2" charset="-122"/>
              </a:rPr>
              <a:t>的模仿。可好玩和流行之余的问题在于，这种语言本身的主要功能并不完全是交流，在圈层内部，这样的语言带有怎样的情绪、立场，都只是小范围的趣味和规则；然而，当它们被大众接受和效仿、甚至成为一种通用表达习惯之后，这种语言自身意义的肤浅和干瘪，以及它背后隐含的、对交流本身的不屑，就难免让人感到不安。</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⑪</a:t>
            </a:r>
            <a:r>
              <a:rPr lang="zh-CN" altLang="en-US" sz="2800">
                <a:latin typeface="宋体" pitchFamily="2" charset="-122"/>
                <a:ea typeface="宋体" pitchFamily="2" charset="-122"/>
              </a:rPr>
              <a:t>我们还能做点什么？语言还需要保卫吗？这个问题也许很难有明确的答案。但至少，我们能够知道的是，语言从来不是单纯的工具，语言污染、语言腐败、语言暴力</a:t>
            </a:r>
            <a:r>
              <a:rPr lang="en-US" altLang="zh-CN" sz="2800">
                <a:latin typeface="宋体" pitchFamily="2" charset="-122"/>
                <a:ea typeface="宋体" pitchFamily="2" charset="-122"/>
              </a:rPr>
              <a:t>——</a:t>
            </a:r>
            <a:r>
              <a:rPr lang="zh-CN" altLang="en-US" sz="2800">
                <a:latin typeface="宋体" pitchFamily="2" charset="-122"/>
                <a:ea typeface="宋体" pitchFamily="2" charset="-122"/>
              </a:rPr>
              <a:t>不管我们把它叫做什么</a:t>
            </a:r>
            <a:r>
              <a:rPr lang="en-US" altLang="zh-CN" sz="2800">
                <a:latin typeface="宋体" pitchFamily="2" charset="-122"/>
                <a:ea typeface="宋体" pitchFamily="2" charset="-122"/>
              </a:rPr>
              <a:t>——</a:t>
            </a:r>
            <a:r>
              <a:rPr lang="zh-CN" altLang="en-US" sz="2800">
                <a:latin typeface="宋体" pitchFamily="2" charset="-122"/>
                <a:ea typeface="宋体" pitchFamily="2" charset="-122"/>
              </a:rPr>
              <a:t>本质上，都是在改变我们认识世界的方式：我们说着什么样的话，就代表我们是什么样的人。从这个角度说，让自己与语言（包括母语）和文字之间，保持一种生机勃勃的、带有温度的联系，就是对自己精神世界的保护。</a:t>
            </a:r>
            <a:endParaRPr lang="zh-CN" altLang="en-US" sz="2800">
              <a:latin typeface="宋体" pitchFamily="2" charset="-122"/>
              <a:ea typeface="宋体" pitchFamily="2" charset="-122"/>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211455" y="0"/>
            <a:ext cx="11768455" cy="6985635"/>
          </a:xfrm>
          <a:prstGeom prst="rect">
            <a:avLst/>
          </a:prstGeom>
          <a:noFill/>
        </p:spPr>
        <p:txBody>
          <a:bodyPr wrap="square" rtlCol="0">
            <a:spAutoFit/>
          </a:bodyPr>
          <a:p>
            <a:pPr indent="457200" fontAlgn="auto">
              <a:lnSpc>
                <a:spcPct val="100000"/>
              </a:lnSpc>
            </a:pPr>
            <a:r>
              <a:rPr lang="en-US" altLang="en-US" sz="2800">
                <a:latin typeface="宋体" pitchFamily="2" charset="-122"/>
                <a:ea typeface="宋体" pitchFamily="2" charset="-122"/>
              </a:rPr>
              <a:t>⑫</a:t>
            </a:r>
            <a:r>
              <a:rPr lang="zh-CN" altLang="en-US" sz="2800">
                <a:latin typeface="宋体" pitchFamily="2" charset="-122"/>
                <a:ea typeface="宋体" pitchFamily="2" charset="-122"/>
              </a:rPr>
              <a:t>具体来说，我们也许可以做到这些：</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⑬</a:t>
            </a:r>
            <a:r>
              <a:rPr lang="zh-CN" altLang="en-US" sz="2800">
                <a:latin typeface="宋体" pitchFamily="2" charset="-122"/>
                <a:ea typeface="宋体" pitchFamily="2" charset="-122"/>
              </a:rPr>
              <a:t>首先，每当我们发现某些流行用语似乎特别</a:t>
            </a:r>
            <a:r>
              <a:rPr lang="en-US" altLang="zh-CN" sz="2800">
                <a:latin typeface="宋体" pitchFamily="2" charset="-122"/>
                <a:ea typeface="宋体" pitchFamily="2" charset="-122"/>
              </a:rPr>
              <a:t>“</a:t>
            </a:r>
            <a:r>
              <a:rPr lang="zh-CN" altLang="en-US" sz="2800">
                <a:latin typeface="宋体" pitchFamily="2" charset="-122"/>
                <a:ea typeface="宋体" pitchFamily="2" charset="-122"/>
              </a:rPr>
              <a:t>适用</a:t>
            </a:r>
            <a:r>
              <a:rPr lang="en-US" altLang="zh-CN" sz="2800">
                <a:latin typeface="宋体" pitchFamily="2" charset="-122"/>
                <a:ea typeface="宋体" pitchFamily="2" charset="-122"/>
              </a:rPr>
              <a:t>”</a:t>
            </a:r>
            <a:r>
              <a:rPr lang="zh-CN" altLang="en-US" sz="2800">
                <a:latin typeface="宋体" pitchFamily="2" charset="-122"/>
                <a:ea typeface="宋体" pitchFamily="2" charset="-122"/>
              </a:rPr>
              <a:t>于谈论某些事情时，对其保持一定程度的警惕。无限丰富的现实，需要的是无限丰富的阐释。然而当丰富性被化约为同质性，就需要警惕是否有</a:t>
            </a:r>
            <a:r>
              <a:rPr lang="en-US" altLang="zh-CN" sz="2800">
                <a:latin typeface="宋体" pitchFamily="2" charset="-122"/>
                <a:ea typeface="宋体" pitchFamily="2" charset="-122"/>
              </a:rPr>
              <a:t>“</a:t>
            </a:r>
            <a:r>
              <a:rPr lang="zh-CN" altLang="en-US" sz="2800">
                <a:latin typeface="宋体" pitchFamily="2" charset="-122"/>
                <a:ea typeface="宋体" pitchFamily="2" charset="-122"/>
              </a:rPr>
              <a:t>场外因素</a:t>
            </a:r>
            <a:r>
              <a:rPr lang="en-US" altLang="zh-CN" sz="2800">
                <a:latin typeface="宋体" pitchFamily="2" charset="-122"/>
                <a:ea typeface="宋体" pitchFamily="2" charset="-122"/>
              </a:rPr>
              <a:t>”</a:t>
            </a:r>
            <a:r>
              <a:rPr lang="zh-CN" altLang="en-US" sz="2800">
                <a:latin typeface="宋体" pitchFamily="2" charset="-122"/>
                <a:ea typeface="宋体" pitchFamily="2" charset="-122"/>
              </a:rPr>
              <a:t>介入到表达过程当中。</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⑭</a:t>
            </a:r>
            <a:r>
              <a:rPr lang="zh-CN" altLang="en-US" sz="2800">
                <a:latin typeface="宋体" pitchFamily="2" charset="-122"/>
                <a:ea typeface="宋体" pitchFamily="2" charset="-122"/>
              </a:rPr>
              <a:t>第二，对于一般人而言，那些由符号和公式构建的</a:t>
            </a:r>
            <a:r>
              <a:rPr lang="en-US" altLang="zh-CN" sz="2800">
                <a:latin typeface="宋体" pitchFamily="2" charset="-122"/>
                <a:ea typeface="宋体" pitchFamily="2" charset="-122"/>
              </a:rPr>
              <a:t>“</a:t>
            </a:r>
            <a:r>
              <a:rPr lang="zh-CN" altLang="en-US" sz="2800">
                <a:latin typeface="宋体" pitchFamily="2" charset="-122"/>
                <a:ea typeface="宋体" pitchFamily="2" charset="-122"/>
              </a:rPr>
              <a:t>形式逻辑</a:t>
            </a:r>
            <a:r>
              <a:rPr lang="en-US" altLang="zh-CN" sz="2800">
                <a:latin typeface="宋体" pitchFamily="2" charset="-122"/>
                <a:ea typeface="宋体" pitchFamily="2" charset="-122"/>
              </a:rPr>
              <a:t>”</a:t>
            </a:r>
            <a:r>
              <a:rPr lang="zh-CN" altLang="en-US" sz="2800">
                <a:latin typeface="宋体" pitchFamily="2" charset="-122"/>
                <a:ea typeface="宋体" pitchFamily="2" charset="-122"/>
              </a:rPr>
              <a:t>或许并非必要，但在参与公共讨论时，我们最好还是学会区分事实与观点，以及各种常见的逻辑谬误，以便在他人试图用话语游戏遮蔽什么、突出什么、淡化什么的时候，及时从语言的隐蔽陷阱里走出来。</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⑮</a:t>
            </a:r>
            <a:r>
              <a:rPr lang="zh-CN" altLang="en-US" sz="2800">
                <a:latin typeface="宋体" pitchFamily="2" charset="-122"/>
                <a:ea typeface="宋体" pitchFamily="2" charset="-122"/>
              </a:rPr>
              <a:t>最后，在一切生产均已高度社会化的当下，只有阅读和写作还顽强地保持着语言的美感。思维从内心流到笔尖的过程，是每个人与语言的一场约会。请让这场约会在隔离干扰性语言的环境中进行，别让它被让他人制造的流行和热点所打扰。</a:t>
            </a:r>
            <a:endParaRPr lang="zh-CN" altLang="en-US" sz="2800">
              <a:latin typeface="宋体" pitchFamily="2" charset="-122"/>
              <a:ea typeface="宋体" pitchFamily="2" charset="-122"/>
            </a:endParaRPr>
          </a:p>
          <a:p>
            <a:pPr indent="457200" fontAlgn="auto">
              <a:lnSpc>
                <a:spcPct val="100000"/>
              </a:lnSpc>
            </a:pPr>
            <a:r>
              <a:rPr lang="en-US" altLang="en-US" sz="2800">
                <a:latin typeface="宋体" pitchFamily="2" charset="-122"/>
                <a:ea typeface="宋体" pitchFamily="2" charset="-122"/>
              </a:rPr>
              <a:t>⑯</a:t>
            </a:r>
            <a:r>
              <a:rPr lang="zh-CN" altLang="en-US" sz="2800">
                <a:latin typeface="宋体" pitchFamily="2" charset="-122"/>
                <a:ea typeface="宋体" pitchFamily="2" charset="-122"/>
              </a:rPr>
              <a:t>不论外部环境如何，只要能在我们的</a:t>
            </a:r>
            <a:r>
              <a:rPr lang="en-US" altLang="zh-CN" sz="2800">
                <a:latin typeface="宋体" pitchFamily="2" charset="-122"/>
                <a:ea typeface="宋体" pitchFamily="2" charset="-122"/>
              </a:rPr>
              <a:t>“</a:t>
            </a:r>
            <a:r>
              <a:rPr lang="zh-CN" altLang="en-US" sz="2800">
                <a:latin typeface="宋体" pitchFamily="2" charset="-122"/>
                <a:ea typeface="宋体" pitchFamily="2" charset="-122"/>
              </a:rPr>
              <a:t>精神世界</a:t>
            </a:r>
            <a:r>
              <a:rPr lang="en-US" altLang="zh-CN" sz="2800">
                <a:latin typeface="宋体" pitchFamily="2" charset="-122"/>
                <a:ea typeface="宋体" pitchFamily="2" charset="-122"/>
              </a:rPr>
              <a:t>”</a:t>
            </a:r>
            <a:r>
              <a:rPr lang="zh-CN" altLang="en-US" sz="2800">
                <a:latin typeface="宋体" pitchFamily="2" charset="-122"/>
                <a:ea typeface="宋体" pitchFamily="2" charset="-122"/>
              </a:rPr>
              <a:t>这片自留地里，守住语言的丰富性和生命力，便是面对语言污染的无孔不入时，一点微小却有力的抵抗。</a:t>
            </a:r>
            <a:endParaRPr lang="zh-CN" altLang="en-US" sz="2800">
              <a:latin typeface="宋体" pitchFamily="2" charset="-122"/>
              <a:ea typeface="宋体" pitchFamily="2" charset="-122"/>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189865" y="830580"/>
            <a:ext cx="11403965" cy="73723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1</a:t>
            </a:r>
            <a:r>
              <a:rPr lang="zh-CN" altLang="en-US" sz="2800">
                <a:latin typeface="宋体" pitchFamily="2" charset="-122"/>
                <a:ea typeface="宋体" pitchFamily="2" charset="-122"/>
              </a:rPr>
              <a:t>）请结合文章，简要分析本文的论证过程。</a:t>
            </a:r>
            <a:endParaRPr lang="zh-CN" altLang="en-US" sz="2800">
              <a:latin typeface="宋体" pitchFamily="2" charset="-122"/>
              <a:ea typeface="宋体" pitchFamily="2" charset="-122"/>
            </a:endParaRPr>
          </a:p>
        </p:txBody>
      </p:sp>
      <p:sp>
        <p:nvSpPr>
          <p:cNvPr id="9" name="文本框 8"/>
          <p:cNvSpPr txBox="1"/>
          <p:nvPr/>
        </p:nvSpPr>
        <p:spPr>
          <a:xfrm>
            <a:off x="543560" y="2096770"/>
            <a:ext cx="10365740" cy="600075"/>
          </a:xfrm>
          <a:prstGeom prst="rect">
            <a:avLst/>
          </a:prstGeom>
          <a:noFill/>
        </p:spPr>
        <p:txBody>
          <a:bodyPr wrap="square" rtlCol="0">
            <a:noAutofit/>
          </a:bodyPr>
          <a:p>
            <a:pPr indent="0" fontAlgn="auto">
              <a:lnSpc>
                <a:spcPct val="150000"/>
              </a:lnSpc>
            </a:pPr>
            <a:r>
              <a:rPr lang="en-US" altLang="en-US" sz="2800">
                <a:solidFill>
                  <a:srgbClr val="FF0000"/>
                </a:solidFill>
                <a:latin typeface="宋体" pitchFamily="2" charset="-122"/>
                <a:ea typeface="宋体" pitchFamily="2" charset="-122"/>
              </a:rPr>
              <a:t>①</a:t>
            </a:r>
            <a:r>
              <a:rPr lang="zh-CN" altLang="en-US" sz="2800">
                <a:solidFill>
                  <a:srgbClr val="FF0000"/>
                </a:solidFill>
                <a:latin typeface="宋体" pitchFamily="2" charset="-122"/>
                <a:ea typeface="宋体" pitchFamily="2" charset="-122"/>
              </a:rPr>
              <a:t>首先由</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后浪</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的例子引出中心话题</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语言污染</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②</a:t>
            </a:r>
            <a:r>
              <a:rPr lang="zh-CN" altLang="en-US" sz="2800">
                <a:solidFill>
                  <a:srgbClr val="FF0000"/>
                </a:solidFill>
                <a:latin typeface="宋体" pitchFamily="2" charset="-122"/>
                <a:ea typeface="宋体" pitchFamily="2" charset="-122"/>
              </a:rPr>
              <a:t>其次阐述被污染的语言的两重特征；</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③</a:t>
            </a:r>
            <a:r>
              <a:rPr lang="zh-CN" altLang="en-US" sz="2800">
                <a:solidFill>
                  <a:srgbClr val="FF0000"/>
                </a:solidFill>
                <a:latin typeface="宋体" pitchFamily="2" charset="-122"/>
                <a:ea typeface="宋体" pitchFamily="2" charset="-122"/>
              </a:rPr>
              <a:t>接着从三方面分析语言污染现象产生的原因；</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④</a:t>
            </a:r>
            <a:r>
              <a:rPr lang="zh-CN" altLang="en-US" sz="2800">
                <a:solidFill>
                  <a:srgbClr val="FF0000"/>
                </a:solidFill>
                <a:latin typeface="宋体" pitchFamily="2" charset="-122"/>
                <a:ea typeface="宋体" pitchFamily="2" charset="-122"/>
              </a:rPr>
              <a:t>最后针对如何守住语言的丰富性和生命力提出三点建议。</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781685"/>
            <a:ext cx="11403965" cy="73723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2</a:t>
            </a:r>
            <a:r>
              <a:rPr lang="zh-CN" altLang="en-US" sz="2800">
                <a:latin typeface="宋体" pitchFamily="2" charset="-122"/>
                <a:ea typeface="宋体" pitchFamily="2" charset="-122"/>
              </a:rPr>
              <a:t>）请分析文章第</a:t>
            </a:r>
            <a:r>
              <a:rPr lang="en-US" altLang="en-US" sz="2800">
                <a:latin typeface="宋体" pitchFamily="2" charset="-122"/>
                <a:ea typeface="宋体" pitchFamily="2" charset="-122"/>
              </a:rPr>
              <a:t>⑨</a:t>
            </a:r>
            <a:r>
              <a:rPr lang="zh-CN" altLang="en-US" sz="2800">
                <a:latin typeface="宋体" pitchFamily="2" charset="-122"/>
                <a:ea typeface="宋体" pitchFamily="2" charset="-122"/>
              </a:rPr>
              <a:t>段划线句使用的论证方法及其作用。</a:t>
            </a:r>
            <a:endParaRPr lang="zh-CN" altLang="en-US" sz="2800">
              <a:latin typeface="宋体" pitchFamily="2" charset="-122"/>
              <a:ea typeface="宋体" pitchFamily="2" charset="-122"/>
            </a:endParaRPr>
          </a:p>
        </p:txBody>
      </p:sp>
      <p:sp>
        <p:nvSpPr>
          <p:cNvPr id="9" name="文本框 8"/>
          <p:cNvSpPr txBox="1"/>
          <p:nvPr/>
        </p:nvSpPr>
        <p:spPr>
          <a:xfrm>
            <a:off x="822325" y="2096770"/>
            <a:ext cx="10365740" cy="600075"/>
          </a:xfrm>
          <a:prstGeom prst="rect">
            <a:avLst/>
          </a:prstGeom>
          <a:noFill/>
        </p:spPr>
        <p:txBody>
          <a:bodyPr wrap="square" rtlCol="0">
            <a:noAutofit/>
          </a:bodyPr>
          <a:p>
            <a:pPr indent="0" fontAlgn="auto">
              <a:lnSpc>
                <a:spcPct val="150000"/>
              </a:lnSpc>
            </a:pPr>
            <a:r>
              <a:rPr lang="en-US" altLang="en-US" sz="2800">
                <a:solidFill>
                  <a:srgbClr val="FF0000"/>
                </a:solidFill>
                <a:latin typeface="宋体" pitchFamily="2" charset="-122"/>
                <a:ea typeface="宋体" pitchFamily="2" charset="-122"/>
              </a:rPr>
              <a:t>①</a:t>
            </a:r>
            <a:r>
              <a:rPr lang="zh-CN" altLang="en-US" sz="2800">
                <a:solidFill>
                  <a:srgbClr val="FF0000"/>
                </a:solidFill>
                <a:latin typeface="宋体" pitchFamily="2" charset="-122"/>
                <a:ea typeface="宋体" pitchFamily="2" charset="-122"/>
              </a:rPr>
              <a:t>举例论证；</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②</a:t>
            </a:r>
            <a:r>
              <a:rPr lang="zh-CN" altLang="en-US" sz="2800">
                <a:solidFill>
                  <a:srgbClr val="FF0000"/>
                </a:solidFill>
                <a:latin typeface="宋体" pitchFamily="2" charset="-122"/>
                <a:ea typeface="宋体" pitchFamily="2" charset="-122"/>
              </a:rPr>
              <a:t>列举了现今社会中一些不需费力思考，同时又新潮时髦的</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新话</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③</a:t>
            </a:r>
            <a:r>
              <a:rPr lang="zh-CN" altLang="en-US" sz="2800">
                <a:solidFill>
                  <a:srgbClr val="FF0000"/>
                </a:solidFill>
                <a:latin typeface="宋体" pitchFamily="2" charset="-122"/>
                <a:ea typeface="宋体" pitchFamily="2" charset="-122"/>
              </a:rPr>
              <a:t>论证了当代人精神生活普遍的消费化，继而导致语言腐败的现象这一观点。</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581660"/>
            <a:ext cx="11403965" cy="73723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3</a:t>
            </a:r>
            <a:r>
              <a:rPr lang="zh-CN" altLang="en-US" sz="2800">
                <a:latin typeface="宋体" pitchFamily="2" charset="-122"/>
                <a:ea typeface="宋体" pitchFamily="2" charset="-122"/>
              </a:rPr>
              <a:t>）请结合自身生活经验，谈谈你对文中第</a:t>
            </a:r>
            <a:r>
              <a:rPr lang="en-US" altLang="en-US" sz="2800">
                <a:latin typeface="宋体" pitchFamily="2" charset="-122"/>
                <a:ea typeface="宋体" pitchFamily="2" charset="-122"/>
              </a:rPr>
              <a:t>⑪</a:t>
            </a:r>
            <a:r>
              <a:rPr lang="zh-CN" altLang="en-US" sz="2800">
                <a:latin typeface="宋体" pitchFamily="2" charset="-122"/>
                <a:ea typeface="宋体" pitchFamily="2" charset="-122"/>
              </a:rPr>
              <a:t>段划线句的理解。</a:t>
            </a:r>
            <a:endParaRPr lang="zh-CN" altLang="en-US" sz="2800">
              <a:latin typeface="宋体" pitchFamily="2" charset="-122"/>
              <a:ea typeface="宋体" pitchFamily="2" charset="-122"/>
            </a:endParaRPr>
          </a:p>
        </p:txBody>
      </p:sp>
      <p:sp>
        <p:nvSpPr>
          <p:cNvPr id="9" name="文本框 8"/>
          <p:cNvSpPr txBox="1"/>
          <p:nvPr/>
        </p:nvSpPr>
        <p:spPr>
          <a:xfrm>
            <a:off x="560705" y="2011680"/>
            <a:ext cx="11033125" cy="600075"/>
          </a:xfrm>
          <a:prstGeom prst="rect">
            <a:avLst/>
          </a:prstGeom>
          <a:noFill/>
        </p:spPr>
        <p:txBody>
          <a:bodyPr wrap="square" rtlCol="0">
            <a:noAutofit/>
          </a:bodyPr>
          <a:p>
            <a:pPr indent="0" fontAlgn="auto">
              <a:lnSpc>
                <a:spcPct val="150000"/>
              </a:lnSpc>
            </a:pPr>
            <a:r>
              <a:rPr lang="en-US" altLang="en-US" sz="2800">
                <a:solidFill>
                  <a:srgbClr val="FF0000"/>
                </a:solidFill>
                <a:latin typeface="宋体" pitchFamily="2" charset="-122"/>
                <a:ea typeface="宋体" pitchFamily="2" charset="-122"/>
              </a:rPr>
              <a:t>①</a:t>
            </a:r>
            <a:r>
              <a:rPr lang="zh-CN" altLang="en-US" sz="2800">
                <a:solidFill>
                  <a:srgbClr val="FF0000"/>
                </a:solidFill>
                <a:latin typeface="宋体" pitchFamily="2" charset="-122"/>
                <a:ea typeface="宋体" pitchFamily="2" charset="-122"/>
              </a:rPr>
              <a:t>保持对语言文字的思考与交流，注重语言文字的内在深度与温度，关注语言文字的生命力，也是在保护自己的精神世界不受干瘪肤浅的文化侵蚀；</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②</a:t>
            </a:r>
            <a:r>
              <a:rPr lang="zh-CN" altLang="en-US" sz="2800">
                <a:solidFill>
                  <a:srgbClr val="FF0000"/>
                </a:solidFill>
                <a:latin typeface="宋体" pitchFamily="2" charset="-122"/>
                <a:ea typeface="宋体" pitchFamily="2" charset="-122"/>
              </a:rPr>
              <a:t>结合生活经验，如：当我们在写作时，对于一些流行词语，应当先思考其内在含义，是否有表情达意的价值，再决定是否使用。</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170815"/>
            <a:ext cx="11403965" cy="332295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4</a:t>
            </a:r>
            <a:r>
              <a:rPr lang="zh-CN" altLang="en-US" sz="2800">
                <a:latin typeface="宋体" pitchFamily="2" charset="-122"/>
                <a:ea typeface="宋体" pitchFamily="2" charset="-122"/>
              </a:rPr>
              <a:t>）请依据文本并结合下面的材料，简要概括当代青少年如何应对语言的污染现象。</a:t>
            </a:r>
            <a:endParaRPr lang="zh-CN" altLang="en-US" sz="2800">
              <a:latin typeface="宋体" pitchFamily="2" charset="-122"/>
              <a:ea typeface="宋体" pitchFamily="2" charset="-122"/>
            </a:endParaRPr>
          </a:p>
          <a:p>
            <a:pPr indent="457200" fontAlgn="auto">
              <a:lnSpc>
                <a:spcPct val="15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博学之，审问之，慎思之，明辨之，笃行之。（《礼记》）</a:t>
            </a:r>
            <a:r>
              <a:rPr lang="en-US" altLang="zh-CN" sz="2800">
                <a:latin typeface="宋体" pitchFamily="2" charset="-122"/>
                <a:ea typeface="宋体" pitchFamily="2" charset="-122"/>
              </a:rPr>
              <a:t>”</a:t>
            </a:r>
            <a:r>
              <a:rPr lang="zh-CN" altLang="en-US" sz="2800">
                <a:latin typeface="宋体" pitchFamily="2" charset="-122"/>
                <a:ea typeface="宋体" pitchFamily="2" charset="-122"/>
              </a:rPr>
              <a:t>（意思为：学习要广泛涉猎，有针对性地请教提问，学会周全地思考，形成清晰的判断力，并用学习得来的知识和思想指导实践。）</a:t>
            </a:r>
            <a:endParaRPr lang="zh-CN" altLang="en-US" sz="2800">
              <a:latin typeface="宋体" pitchFamily="2" charset="-122"/>
              <a:ea typeface="宋体" pitchFamily="2" charset="-122"/>
            </a:endParaRPr>
          </a:p>
        </p:txBody>
      </p:sp>
      <p:sp>
        <p:nvSpPr>
          <p:cNvPr id="9" name="文本框 8"/>
          <p:cNvSpPr txBox="1"/>
          <p:nvPr/>
        </p:nvSpPr>
        <p:spPr>
          <a:xfrm>
            <a:off x="560705" y="3281045"/>
            <a:ext cx="10986770" cy="600075"/>
          </a:xfrm>
          <a:prstGeom prst="rect">
            <a:avLst/>
          </a:prstGeom>
          <a:noFill/>
        </p:spPr>
        <p:txBody>
          <a:bodyPr wrap="square" rtlCol="0">
            <a:noAutofit/>
          </a:bodyPr>
          <a:p>
            <a:pPr indent="0" fontAlgn="auto">
              <a:lnSpc>
                <a:spcPct val="150000"/>
              </a:lnSpc>
            </a:pPr>
            <a:r>
              <a:rPr lang="en-US" altLang="en-US" sz="2800">
                <a:solidFill>
                  <a:srgbClr val="FF0000"/>
                </a:solidFill>
                <a:latin typeface="宋体" pitchFamily="2" charset="-122"/>
                <a:ea typeface="宋体" pitchFamily="2" charset="-122"/>
              </a:rPr>
              <a:t>①</a:t>
            </a:r>
            <a:r>
              <a:rPr lang="zh-CN" altLang="en-US" sz="2800">
                <a:solidFill>
                  <a:srgbClr val="FF0000"/>
                </a:solidFill>
                <a:latin typeface="宋体" pitchFamily="2" charset="-122"/>
                <a:ea typeface="宋体" pitchFamily="2" charset="-122"/>
              </a:rPr>
              <a:t>对某些流行语使用时保持警惕性；</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②</a:t>
            </a:r>
            <a:r>
              <a:rPr lang="zh-CN" altLang="en-US" sz="2800">
                <a:solidFill>
                  <a:srgbClr val="FF0000"/>
                </a:solidFill>
                <a:latin typeface="宋体" pitchFamily="2" charset="-122"/>
                <a:ea typeface="宋体" pitchFamily="2" charset="-122"/>
              </a:rPr>
              <a:t>参与公共讨论时，学会周全地思考，提高逻辑判断能力；</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③</a:t>
            </a:r>
            <a:r>
              <a:rPr lang="zh-CN" altLang="en-US" sz="2800">
                <a:solidFill>
                  <a:srgbClr val="FF0000"/>
                </a:solidFill>
                <a:latin typeface="宋体" pitchFamily="2" charset="-122"/>
                <a:ea typeface="宋体" pitchFamily="2" charset="-122"/>
              </a:rPr>
              <a:t>通过阅读与写作的习惯来保持语言的美感；</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④</a:t>
            </a:r>
            <a:r>
              <a:rPr lang="zh-CN" altLang="en-US" sz="2800">
                <a:solidFill>
                  <a:srgbClr val="FF0000"/>
                </a:solidFill>
                <a:latin typeface="宋体" pitchFamily="2" charset="-122"/>
                <a:ea typeface="宋体" pitchFamily="2" charset="-122"/>
              </a:rPr>
              <a:t>要广泛学习各类知识，对不懂的及时请教提问。</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170815"/>
            <a:ext cx="11403965" cy="6554470"/>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5</a:t>
            </a:r>
            <a:r>
              <a:rPr lang="zh-CN" altLang="en-US" sz="2800">
                <a:latin typeface="宋体" pitchFamily="2" charset="-122"/>
                <a:ea typeface="宋体" pitchFamily="2" charset="-122"/>
              </a:rPr>
              <a:t>）下列对本文的理解和分析错误的一项是</a:t>
            </a:r>
            <a:r>
              <a:rPr lang="en-US" altLang="zh-CN" sz="2800">
                <a:latin typeface="宋体" pitchFamily="2" charset="-122"/>
                <a:ea typeface="宋体" pitchFamily="2" charset="-122"/>
              </a:rPr>
              <a:t> </a:t>
            </a:r>
            <a:r>
              <a:rPr lang="zh-CN" altLang="en-US" sz="2800">
                <a:latin typeface="宋体" pitchFamily="2" charset="-122"/>
                <a:ea typeface="宋体" pitchFamily="2" charset="-122"/>
              </a:rPr>
              <a:t>　</a:t>
            </a:r>
            <a:r>
              <a:rPr lang="en-US" altLang="zh-CN" sz="2800">
                <a:latin typeface="宋体" pitchFamily="2" charset="-122"/>
                <a:ea typeface="宋体" pitchFamily="2" charset="-122"/>
              </a:rPr>
              <a:t>   </a:t>
            </a:r>
            <a:r>
              <a:rPr lang="zh-CN" altLang="en-US" sz="2800">
                <a:latin typeface="宋体" pitchFamily="2" charset="-122"/>
                <a:ea typeface="宋体" pitchFamily="2" charset="-122"/>
              </a:rPr>
              <a:t>　</a:t>
            </a:r>
            <a:endParaRPr lang="zh-CN" altLang="en-US" sz="2800">
              <a:latin typeface="宋体" pitchFamily="2" charset="-122"/>
              <a:ea typeface="宋体" pitchFamily="2" charset="-122"/>
            </a:endParaRPr>
          </a:p>
          <a:p>
            <a:pPr indent="457200" fontAlgn="auto">
              <a:lnSpc>
                <a:spcPct val="150000"/>
              </a:lnSpc>
            </a:pPr>
            <a:r>
              <a:rPr lang="en-US" altLang="zh-CN" sz="2800">
                <a:latin typeface="宋体" pitchFamily="2" charset="-122"/>
                <a:ea typeface="宋体" pitchFamily="2" charset="-122"/>
              </a:rPr>
              <a:t>A</a:t>
            </a:r>
            <a:r>
              <a:rPr lang="zh-CN" altLang="en-US" sz="2800">
                <a:latin typeface="宋体" pitchFamily="2" charset="-122"/>
                <a:ea typeface="宋体" pitchFamily="2" charset="-122"/>
              </a:rPr>
              <a:t>．文章开头既写了现今社会的现象，也提到上世纪八十年代语言学家陈原对</a:t>
            </a:r>
            <a:r>
              <a:rPr lang="en-US" altLang="zh-CN" sz="2800">
                <a:latin typeface="宋体" pitchFamily="2" charset="-122"/>
                <a:ea typeface="宋体" pitchFamily="2" charset="-122"/>
              </a:rPr>
              <a:t>“</a:t>
            </a:r>
            <a:r>
              <a:rPr lang="zh-CN" altLang="en-US" sz="2800">
                <a:latin typeface="宋体" pitchFamily="2" charset="-122"/>
                <a:ea typeface="宋体" pitchFamily="2" charset="-122"/>
              </a:rPr>
              <a:t>语言污染</a:t>
            </a:r>
            <a:r>
              <a:rPr lang="en-US" altLang="zh-CN" sz="2800">
                <a:latin typeface="宋体" pitchFamily="2" charset="-122"/>
                <a:ea typeface="宋体" pitchFamily="2" charset="-122"/>
              </a:rPr>
              <a:t>”</a:t>
            </a:r>
            <a:r>
              <a:rPr lang="zh-CN" altLang="en-US" sz="2800">
                <a:latin typeface="宋体" pitchFamily="2" charset="-122"/>
                <a:ea typeface="宋体" pitchFamily="2" charset="-122"/>
              </a:rPr>
              <a:t>的阐释，使文章有理有据，更具说服力。</a:t>
            </a:r>
            <a:endParaRPr lang="zh-CN" altLang="en-US" sz="2800">
              <a:latin typeface="宋体" pitchFamily="2" charset="-122"/>
              <a:ea typeface="宋体" pitchFamily="2" charset="-122"/>
            </a:endParaRPr>
          </a:p>
          <a:p>
            <a:pPr indent="457200" fontAlgn="auto">
              <a:lnSpc>
                <a:spcPct val="150000"/>
              </a:lnSpc>
            </a:pPr>
            <a:r>
              <a:rPr lang="en-US" altLang="zh-CN" sz="2800">
                <a:latin typeface="宋体" pitchFamily="2" charset="-122"/>
                <a:ea typeface="宋体" pitchFamily="2" charset="-122"/>
              </a:rPr>
              <a:t>B</a:t>
            </a:r>
            <a:r>
              <a:rPr lang="zh-CN" altLang="en-US" sz="2800">
                <a:latin typeface="宋体" pitchFamily="2" charset="-122"/>
                <a:ea typeface="宋体" pitchFamily="2" charset="-122"/>
              </a:rPr>
              <a:t>．本文论证层次言清晰严谨，前半部分总结了语言污染的两大主要特征就是语言丰富性的丧失和词汇的词义变得歪曲或空洞。</a:t>
            </a:r>
            <a:endParaRPr lang="zh-CN" altLang="en-US" sz="2800">
              <a:latin typeface="宋体" pitchFamily="2" charset="-122"/>
              <a:ea typeface="宋体" pitchFamily="2" charset="-122"/>
            </a:endParaRPr>
          </a:p>
          <a:p>
            <a:pPr indent="457200" fontAlgn="auto">
              <a:lnSpc>
                <a:spcPct val="150000"/>
              </a:lnSpc>
            </a:pPr>
            <a:r>
              <a:rPr lang="en-US" altLang="zh-CN" sz="2800">
                <a:latin typeface="宋体" pitchFamily="2" charset="-122"/>
                <a:ea typeface="宋体" pitchFamily="2" charset="-122"/>
              </a:rPr>
              <a:t>C</a:t>
            </a:r>
            <a:r>
              <a:rPr lang="zh-CN" altLang="en-US" sz="2800">
                <a:latin typeface="宋体" pitchFamily="2" charset="-122"/>
                <a:ea typeface="宋体" pitchFamily="2" charset="-122"/>
              </a:rPr>
              <a:t>．文章第</a:t>
            </a:r>
            <a:r>
              <a:rPr lang="en-US" altLang="en-US" sz="2800">
                <a:latin typeface="宋体" pitchFamily="2" charset="-122"/>
                <a:ea typeface="宋体" pitchFamily="2" charset="-122"/>
              </a:rPr>
              <a:t>⑧</a:t>
            </a:r>
            <a:r>
              <a:rPr lang="zh-CN" altLang="en-US" sz="2800">
                <a:latin typeface="宋体" pitchFamily="2" charset="-122"/>
                <a:ea typeface="宋体" pitchFamily="2" charset="-122"/>
              </a:rPr>
              <a:t>段结尾表明了作者对现今社会</a:t>
            </a:r>
            <a:r>
              <a:rPr lang="en-US" altLang="zh-CN" sz="2800">
                <a:latin typeface="宋体" pitchFamily="2" charset="-122"/>
                <a:ea typeface="宋体" pitchFamily="2" charset="-122"/>
              </a:rPr>
              <a:t>“</a:t>
            </a:r>
            <a:r>
              <a:rPr lang="zh-CN" altLang="en-US" sz="2800">
                <a:latin typeface="宋体" pitchFamily="2" charset="-122"/>
                <a:ea typeface="宋体" pitchFamily="2" charset="-122"/>
              </a:rPr>
              <a:t>金句</a:t>
            </a:r>
            <a:r>
              <a:rPr lang="en-US" altLang="zh-CN" sz="2800">
                <a:latin typeface="宋体" pitchFamily="2" charset="-122"/>
                <a:ea typeface="宋体" pitchFamily="2" charset="-122"/>
              </a:rPr>
              <a:t>”“</a:t>
            </a:r>
            <a:r>
              <a:rPr lang="zh-CN" altLang="en-US" sz="2800">
                <a:latin typeface="宋体" pitchFamily="2" charset="-122"/>
                <a:ea typeface="宋体" pitchFamily="2" charset="-122"/>
              </a:rPr>
              <a:t>流行词</a:t>
            </a:r>
            <a:r>
              <a:rPr lang="en-US" altLang="zh-CN" sz="2800">
                <a:latin typeface="宋体" pitchFamily="2" charset="-122"/>
                <a:ea typeface="宋体" pitchFamily="2" charset="-122"/>
              </a:rPr>
              <a:t>”“</a:t>
            </a:r>
            <a:r>
              <a:rPr lang="zh-CN" altLang="en-US" sz="2800">
                <a:latin typeface="宋体" pitchFamily="2" charset="-122"/>
                <a:ea typeface="宋体" pitchFamily="2" charset="-122"/>
              </a:rPr>
              <a:t>口号</a:t>
            </a:r>
            <a:r>
              <a:rPr lang="en-US" altLang="zh-CN" sz="2800">
                <a:latin typeface="宋体" pitchFamily="2" charset="-122"/>
                <a:ea typeface="宋体" pitchFamily="2" charset="-122"/>
              </a:rPr>
              <a:t>”</a:t>
            </a:r>
            <a:r>
              <a:rPr lang="zh-CN" altLang="en-US" sz="2800">
                <a:latin typeface="宋体" pitchFamily="2" charset="-122"/>
                <a:ea typeface="宋体" pitchFamily="2" charset="-122"/>
              </a:rPr>
              <a:t>或者说对</a:t>
            </a:r>
            <a:r>
              <a:rPr lang="en-US" altLang="zh-CN" sz="2800">
                <a:latin typeface="宋体" pitchFamily="2" charset="-122"/>
                <a:ea typeface="宋体" pitchFamily="2" charset="-122"/>
              </a:rPr>
              <a:t>“</a:t>
            </a:r>
            <a:r>
              <a:rPr lang="zh-CN" altLang="en-US" sz="2800">
                <a:latin typeface="宋体" pitchFamily="2" charset="-122"/>
                <a:ea typeface="宋体" pitchFamily="2" charset="-122"/>
              </a:rPr>
              <a:t>梗</a:t>
            </a:r>
            <a:r>
              <a:rPr lang="en-US" altLang="zh-CN" sz="2800">
                <a:latin typeface="宋体" pitchFamily="2" charset="-122"/>
                <a:ea typeface="宋体" pitchFamily="2" charset="-122"/>
              </a:rPr>
              <a:t>”</a:t>
            </a:r>
            <a:r>
              <a:rPr lang="zh-CN" altLang="en-US" sz="2800">
                <a:latin typeface="宋体" pitchFamily="2" charset="-122"/>
                <a:ea typeface="宋体" pitchFamily="2" charset="-122"/>
              </a:rPr>
              <a:t>的大量使用的坚决否定。</a:t>
            </a:r>
            <a:endParaRPr lang="zh-CN" altLang="en-US" sz="2800">
              <a:latin typeface="宋体" pitchFamily="2" charset="-122"/>
              <a:ea typeface="宋体" pitchFamily="2" charset="-122"/>
            </a:endParaRPr>
          </a:p>
          <a:p>
            <a:pPr indent="457200" fontAlgn="auto">
              <a:lnSpc>
                <a:spcPct val="150000"/>
              </a:lnSpc>
            </a:pPr>
            <a:r>
              <a:rPr lang="en-US" altLang="zh-CN" sz="2800">
                <a:latin typeface="宋体" pitchFamily="2" charset="-122"/>
                <a:ea typeface="宋体" pitchFamily="2" charset="-122"/>
              </a:rPr>
              <a:t>D</a:t>
            </a:r>
            <a:r>
              <a:rPr lang="zh-CN" altLang="en-US" sz="2800">
                <a:latin typeface="宋体" pitchFamily="2" charset="-122"/>
                <a:ea typeface="宋体" pitchFamily="2" charset="-122"/>
              </a:rPr>
              <a:t>．</a:t>
            </a:r>
            <a:r>
              <a:rPr lang="en-US" altLang="zh-CN" sz="2800">
                <a:latin typeface="宋体" pitchFamily="2" charset="-122"/>
                <a:ea typeface="宋体" pitchFamily="2" charset="-122"/>
              </a:rPr>
              <a:t>“</a:t>
            </a:r>
            <a:r>
              <a:rPr lang="zh-CN" altLang="en-US" sz="2800">
                <a:latin typeface="宋体" pitchFamily="2" charset="-122"/>
                <a:ea typeface="宋体" pitchFamily="2" charset="-122"/>
              </a:rPr>
              <a:t>守住语言的丰富性和生命力</a:t>
            </a:r>
            <a:r>
              <a:rPr lang="en-US" altLang="zh-CN" sz="2800">
                <a:latin typeface="宋体" pitchFamily="2" charset="-122"/>
                <a:ea typeface="宋体" pitchFamily="2" charset="-122"/>
              </a:rPr>
              <a:t>”</a:t>
            </a:r>
            <a:r>
              <a:rPr lang="zh-CN" altLang="en-US" sz="2800">
                <a:latin typeface="宋体" pitchFamily="2" charset="-122"/>
                <a:ea typeface="宋体" pitchFamily="2" charset="-122"/>
              </a:rPr>
              <a:t>，至少能对抵抗语言污染的无孔不入有些帮助，文章结尾表达了作者这样鲜明的创作态度。</a:t>
            </a:r>
            <a:endParaRPr lang="zh-CN" altLang="en-US" sz="2800">
              <a:latin typeface="宋体" pitchFamily="2" charset="-122"/>
              <a:ea typeface="宋体" pitchFamily="2" charset="-122"/>
            </a:endParaRPr>
          </a:p>
          <a:p>
            <a:pPr indent="457200" fontAlgn="auto">
              <a:lnSpc>
                <a:spcPct val="150000"/>
              </a:lnSpc>
            </a:pPr>
            <a:endParaRPr lang="zh-CN" altLang="en-US" sz="2800">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75310" y="-619760"/>
            <a:ext cx="6974205" cy="7477760"/>
          </a:xfrm>
          <a:prstGeom prst="rect">
            <a:avLst/>
          </a:prstGeom>
          <a:noFill/>
          <a:ln>
            <a:noFill/>
          </a:ln>
        </p:spPr>
        <p:txBody>
          <a:bodyPr wrap="square" rtlCol="0">
            <a:spAutoFit/>
          </a:bodyPr>
          <a:p>
            <a:r>
              <a:rPr lang="en-US" altLang="zh-CN" sz="48000">
                <a:solidFill>
                  <a:srgbClr val="EDD0BB">
                    <a:alpha val="14000"/>
                  </a:srgbClr>
                </a:solidFill>
                <a:latin typeface="Calibri" panose="020F0502020204030204" charset="0"/>
                <a:cs typeface="Calibri" panose="020F0502020204030204" charset="0"/>
                <a:sym typeface="+mn-ea"/>
              </a:rPr>
              <a:t>02</a:t>
            </a:r>
            <a:endParaRPr lang="en-US" altLang="zh-CN" sz="48000">
              <a:solidFill>
                <a:srgbClr val="EDD0BB">
                  <a:alpha val="14000"/>
                </a:srgbClr>
              </a:solidFill>
              <a:latin typeface="Calibri" panose="020F0502020204030204" charset="0"/>
              <a:cs typeface="Calibri" panose="020F0502020204030204" charset="0"/>
              <a:sym typeface="+mn-ea"/>
            </a:endParaRPr>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文本框 44"/>
          <p:cNvSpPr txBox="1"/>
          <p:nvPr/>
        </p:nvSpPr>
        <p:spPr>
          <a:xfrm>
            <a:off x="6837680" y="3665855"/>
            <a:ext cx="3630295" cy="583565"/>
          </a:xfrm>
          <a:prstGeom prst="rect">
            <a:avLst/>
          </a:prstGeom>
          <a:noFill/>
        </p:spPr>
        <p:txBody>
          <a:bodyPr wrap="square" rtlCol="0">
            <a:spAutoFit/>
          </a:bodyPr>
          <a:p>
            <a:pPr algn="ctr"/>
            <a:r>
              <a:rPr lang="zh-CN" altLang="en-US" sz="3200" spc="100">
                <a:solidFill>
                  <a:srgbClr val="ADBCBE"/>
                </a:solidFill>
                <a:uFillTx/>
                <a:latin typeface="华文中宋" panose="02010600040101010101" charset="-122"/>
                <a:ea typeface="华文中宋" panose="02010600040101010101" charset="-122"/>
                <a:cs typeface="黑体" panose="02010609060101010101" charset="-122"/>
              </a:rPr>
              <a:t>黄昏</a:t>
            </a:r>
            <a:endParaRPr lang="zh-CN" altLang="en-US" sz="3200" spc="100">
              <a:solidFill>
                <a:srgbClr val="ADBCBE"/>
              </a:solidFill>
              <a:uFillTx/>
              <a:latin typeface="华文中宋" panose="02010600040101010101" charset="-122"/>
              <a:ea typeface="华文中宋" panose="02010600040101010101" charset="-122"/>
              <a:cs typeface="黑体" panose="02010609060101010101" charset="-122"/>
            </a:endParaRPr>
          </a:p>
        </p:txBody>
      </p:sp>
      <p:sp>
        <p:nvSpPr>
          <p:cNvPr id="18" name="文本框 17"/>
          <p:cNvSpPr txBox="1"/>
          <p:nvPr/>
        </p:nvSpPr>
        <p:spPr>
          <a:xfrm>
            <a:off x="7047865" y="2611755"/>
            <a:ext cx="1771015" cy="1014730"/>
          </a:xfrm>
          <a:prstGeom prst="rect">
            <a:avLst/>
          </a:prstGeom>
          <a:noFill/>
          <a:ln>
            <a:noFill/>
          </a:ln>
        </p:spPr>
        <p:txBody>
          <a:bodyPr wrap="square" rtlCol="0">
            <a:spAutoFit/>
          </a:bodyPr>
          <a:p>
            <a:r>
              <a:rPr lang="en-US" altLang="zh-CN" sz="6000">
                <a:solidFill>
                  <a:srgbClr val="ADBCBE"/>
                </a:solidFill>
                <a:latin typeface="Calibri" panose="020F0502020204030204" charset="0"/>
                <a:cs typeface="Calibri" panose="020F0502020204030204" charset="0"/>
                <a:sym typeface="+mn-ea"/>
              </a:rPr>
              <a:t>TWO</a:t>
            </a:r>
            <a:endParaRPr lang="en-US" altLang="zh-CN" sz="6000">
              <a:solidFill>
                <a:srgbClr val="ADBCBE"/>
              </a:solidFill>
              <a:latin typeface="Calibri" panose="020F0502020204030204" charset="0"/>
              <a:cs typeface="Calibri" panose="020F0502020204030204" charset="0"/>
              <a:sym typeface="+mn-ea"/>
            </a:endParaRPr>
          </a:p>
        </p:txBody>
      </p:sp>
      <p:sp>
        <p:nvSpPr>
          <p:cNvPr id="6" name="矩形 1"/>
          <p:cNvSpPr/>
          <p:nvPr/>
        </p:nvSpPr>
        <p:spPr>
          <a:xfrm rot="2160000">
            <a:off x="9036050" y="-361950"/>
            <a:ext cx="4394835" cy="4338955"/>
          </a:xfrm>
          <a:prstGeom prst="rect">
            <a:avLst/>
          </a:prstGeom>
          <a:blipFill rotWithShape="1">
            <a:blip r:embed="rId1">
              <a:alphaModFix amt="75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576580"/>
            <a:ext cx="11768455" cy="5692775"/>
          </a:xfrm>
          <a:prstGeom prst="rect">
            <a:avLst/>
          </a:prstGeom>
          <a:noFill/>
        </p:spPr>
        <p:txBody>
          <a:bodyPr wrap="square" rtlCol="0">
            <a:spAutoFit/>
          </a:bodyPr>
          <a:p>
            <a:pPr indent="457200" fontAlgn="auto">
              <a:lnSpc>
                <a:spcPct val="100000"/>
              </a:lnSpc>
            </a:pPr>
            <a:r>
              <a:rPr lang="zh-CN" altLang="en-US" sz="2800">
                <a:latin typeface="宋体" pitchFamily="2" charset="-122"/>
                <a:ea typeface="宋体" pitchFamily="2" charset="-122"/>
              </a:rPr>
              <a:t>诺曼</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坐在海德公园的长椅上。这是三月初的一个傍晚，约莫六点半的样子，暮色笼罩大地，只有微弱的月光和点点街灯冲淡着昏暗的夜幕。眼前的景象正是戈茨比内心的写照。在他看来，黄昏是属于失意者的时刻。经过奋斗却惨遭失败的男男女女，总想藏起自己的霉运和失落，免受好事者的打探。戈茨比把自己归入失意者的队伍，倒不是为钱所困，眼下栽的跟头小得不值一提，但还是弄得他心灰意冷。出于一种愤世嫉俗的心理，他幸灾乐祸地打量眼前飘过的行人，猜测他们遭遇了何种不幸。</a:t>
            </a:r>
            <a:endParaRPr lang="zh-CN" altLang="en-US" sz="2800">
              <a:latin typeface="宋体" pitchFamily="2" charset="-122"/>
              <a:ea typeface="宋体" pitchFamily="2" charset="-122"/>
            </a:endParaRPr>
          </a:p>
          <a:p>
            <a:pPr indent="457200" fontAlgn="auto">
              <a:lnSpc>
                <a:spcPct val="100000"/>
              </a:lnSpc>
            </a:pPr>
            <a:r>
              <a:rPr lang="zh-CN" altLang="en-US" sz="2800">
                <a:latin typeface="宋体" pitchFamily="2" charset="-122"/>
                <a:ea typeface="宋体" pitchFamily="2" charset="-122"/>
              </a:rPr>
              <a:t>跟他同坐一张长椅的是位上了年纪的先生，看得出来，他还在和命运做无谓的抗争，但是气概已趋衰退，这或许是他仅剩的一点自尊了。老先生穿得还可以，至少在昏暗的光线下不算寒酸。坐了一会儿，他起身离去，原先的位子很快被一个年轻人占据了。他的衣着十分考究，但脸上的神情丝毫不比先前那位老人轻松多少。他一屁股坐在长椅上，气得骂骂咧咧，似乎要强调这一天过得有多不顺。</a:t>
            </a:r>
            <a:endParaRPr lang="zh-CN" altLang="en-US" sz="2800">
              <a:latin typeface="宋体" pitchFamily="2" charset="-122"/>
              <a:ea typeface="宋体" pitchFamily="2" charset="-122"/>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819785"/>
            <a:ext cx="11768455" cy="5692775"/>
          </a:xfrm>
          <a:prstGeom prst="rect">
            <a:avLst/>
          </a:prstGeom>
          <a:noFill/>
        </p:spPr>
        <p:txBody>
          <a:bodyPr wrap="square" rtlCol="0">
            <a:spAutoFit/>
          </a:bodyPr>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你看起来心情不大好啊。</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r>
              <a:rPr lang="zh-CN" altLang="en-US" sz="2800">
                <a:latin typeface="宋体" pitchFamily="2" charset="-122"/>
                <a:ea typeface="宋体" pitchFamily="2" charset="-122"/>
              </a:rPr>
              <a:t>年轻人转过身，投来一个坦言相待的眼神，看得戈茨比立刻起了戒心。</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你要是碰到这种麻烦，肯定也开心不起来，</a:t>
            </a:r>
            <a:r>
              <a:rPr lang="en-US" altLang="zh-CN" sz="2800">
                <a:latin typeface="宋体" pitchFamily="2" charset="-122"/>
                <a:ea typeface="宋体" pitchFamily="2" charset="-122"/>
              </a:rPr>
              <a:t>”</a:t>
            </a:r>
            <a:r>
              <a:rPr lang="zh-CN" altLang="en-US" sz="2800">
                <a:latin typeface="宋体" pitchFamily="2" charset="-122"/>
                <a:ea typeface="宋体" pitchFamily="2" charset="-122"/>
              </a:rPr>
              <a:t>他说，</a:t>
            </a:r>
            <a:r>
              <a:rPr lang="en-US" altLang="zh-CN" sz="2800">
                <a:latin typeface="宋体" pitchFamily="2" charset="-122"/>
                <a:ea typeface="宋体" pitchFamily="2" charset="-122"/>
              </a:rPr>
              <a:t>“</a:t>
            </a:r>
            <a:r>
              <a:rPr lang="zh-CN" altLang="en-US" sz="2800">
                <a:latin typeface="宋体" pitchFamily="2" charset="-122"/>
                <a:ea typeface="宋体" pitchFamily="2" charset="-122"/>
              </a:rPr>
              <a:t>我干了这辈子最蠢的一件事。</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哦？</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戈茨比冷冷地应声。</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我今天下午到的伦敦。本打算住伯克希尔广场的巴塔哥尼亚酒店，结果到了才发现那儿几周前就拆了。出租车司机介绍了另一家酒店，到了酒店，我赶紧给家里人写信，把新地址告诉他们，然后就出门买香皂了</a:t>
            </a:r>
            <a:r>
              <a:rPr lang="en-US" altLang="zh-CN" sz="2800">
                <a:latin typeface="宋体" pitchFamily="2" charset="-122"/>
                <a:ea typeface="宋体" pitchFamily="2" charset="-122"/>
              </a:rPr>
              <a:t>——</a:t>
            </a:r>
            <a:r>
              <a:rPr lang="zh-CN" altLang="en-US" sz="2800">
                <a:latin typeface="宋体" pitchFamily="2" charset="-122"/>
                <a:ea typeface="宋体" pitchFamily="2" charset="-122"/>
              </a:rPr>
              <a:t>我忘记带了，酒店的香皂又特别糟。我四处溜达了一圈，上酒吧喝了点小酒，然后去商店买香皂。等我打算回去的时候，怎么也想不起来酒店叫什么，在哪条街上。我在伦敦没亲没故，真是倒霉透了！没错，我可以写信给家里人要地址，可他们最快要到明天才能收到信。我身上也没钱了，买香皂喝酒花得差不多了，今晚不知该上哪儿去落脚呢。</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819785"/>
            <a:ext cx="11768455" cy="6123940"/>
          </a:xfrm>
          <a:prstGeom prst="rect">
            <a:avLst/>
          </a:prstGeom>
          <a:noFill/>
        </p:spPr>
        <p:txBody>
          <a:bodyPr wrap="square" rtlCol="0">
            <a:spAutoFit/>
          </a:bodyPr>
          <a:p>
            <a:pPr indent="457200" fontAlgn="auto">
              <a:lnSpc>
                <a:spcPct val="100000"/>
              </a:lnSpc>
            </a:pPr>
            <a:r>
              <a:rPr lang="zh-CN" altLang="en-US" sz="2800">
                <a:latin typeface="宋体" pitchFamily="2" charset="-122"/>
                <a:ea typeface="宋体" pitchFamily="2" charset="-122"/>
              </a:rPr>
              <a:t>说罢，他意味深长地顿了顿。</a:t>
            </a:r>
            <a:r>
              <a:rPr lang="en-US" altLang="zh-CN" sz="2800">
                <a:latin typeface="宋体" pitchFamily="2" charset="-122"/>
                <a:ea typeface="宋体" pitchFamily="2" charset="-122"/>
              </a:rPr>
              <a:t>“</a:t>
            </a:r>
            <a:r>
              <a:rPr lang="zh-CN" altLang="en-US" sz="2800">
                <a:latin typeface="宋体" pitchFamily="2" charset="-122"/>
                <a:ea typeface="宋体" pitchFamily="2" charset="-122"/>
              </a:rPr>
              <a:t>你大概以为我在胡说八道吧。</a:t>
            </a:r>
            <a:r>
              <a:rPr lang="en-US" altLang="zh-CN" sz="2800">
                <a:latin typeface="宋体" pitchFamily="2" charset="-122"/>
                <a:ea typeface="宋体" pitchFamily="2" charset="-122"/>
              </a:rPr>
              <a:t>”</a:t>
            </a:r>
            <a:r>
              <a:rPr lang="zh-CN" altLang="en-US" sz="2800">
                <a:latin typeface="宋体" pitchFamily="2" charset="-122"/>
                <a:ea typeface="宋体" pitchFamily="2" charset="-122"/>
              </a:rPr>
              <a:t>年轻人随即又说道，听起来颇有些愤愤不平。</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也不是没可能，</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戈茨比不失公允地说，</a:t>
            </a:r>
            <a:r>
              <a:rPr lang="en-US" altLang="zh-CN" sz="2800">
                <a:latin typeface="宋体" pitchFamily="2" charset="-122"/>
                <a:ea typeface="宋体" pitchFamily="2" charset="-122"/>
              </a:rPr>
              <a:t>“</a:t>
            </a:r>
            <a:r>
              <a:rPr lang="zh-CN" altLang="en-US" sz="2800">
                <a:latin typeface="宋体" pitchFamily="2" charset="-122"/>
                <a:ea typeface="宋体" pitchFamily="2" charset="-122"/>
              </a:rPr>
              <a:t>我也干过这样的事，那是一个国外的首都，当时我们是两个人，听起来更荒唐了吧。好在我们记得酒店在一条运河边，最后沿着河才找到回酒店的路。</a:t>
            </a:r>
            <a:r>
              <a:rPr lang="en-US" altLang="zh-CN" sz="2800">
                <a:latin typeface="宋体" pitchFamily="2" charset="-122"/>
                <a:ea typeface="宋体" pitchFamily="2" charset="-122"/>
              </a:rPr>
              <a:t>”</a:t>
            </a:r>
            <a:r>
              <a:rPr lang="zh-CN" altLang="en-US" sz="2800">
                <a:latin typeface="宋体" pitchFamily="2" charset="-122"/>
                <a:ea typeface="宋体" pitchFamily="2" charset="-122"/>
              </a:rPr>
              <a:t>年轻人听他忆起往事，不禁眼前一亮。</a:t>
            </a:r>
            <a:r>
              <a:rPr lang="en-US" altLang="zh-CN" sz="2800">
                <a:latin typeface="宋体" pitchFamily="2" charset="-122"/>
                <a:ea typeface="宋体" pitchFamily="2" charset="-122"/>
              </a:rPr>
              <a:t>“</a:t>
            </a:r>
            <a:r>
              <a:rPr lang="zh-CN" altLang="en-US" sz="2800">
                <a:latin typeface="宋体" pitchFamily="2" charset="-122"/>
                <a:ea typeface="宋体" pitchFamily="2" charset="-122"/>
              </a:rPr>
              <a:t>要是在国外，还不至于这么发愁，</a:t>
            </a:r>
            <a:r>
              <a:rPr lang="en-US" altLang="zh-CN" sz="2800">
                <a:latin typeface="宋体" pitchFamily="2" charset="-122"/>
                <a:ea typeface="宋体" pitchFamily="2" charset="-122"/>
              </a:rPr>
              <a:t>”</a:t>
            </a:r>
            <a:r>
              <a:rPr lang="zh-CN" altLang="en-US" sz="2800">
                <a:latin typeface="宋体" pitchFamily="2" charset="-122"/>
                <a:ea typeface="宋体" pitchFamily="2" charset="-122"/>
              </a:rPr>
              <a:t>他说，</a:t>
            </a:r>
            <a:r>
              <a:rPr lang="en-US" altLang="zh-CN" sz="2800">
                <a:latin typeface="宋体" pitchFamily="2" charset="-122"/>
                <a:ea typeface="宋体" pitchFamily="2" charset="-122"/>
              </a:rPr>
              <a:t>“</a:t>
            </a:r>
            <a:r>
              <a:rPr lang="zh-CN" altLang="en-US" sz="2800">
                <a:latin typeface="宋体" pitchFamily="2" charset="-122"/>
                <a:ea typeface="宋体" pitchFamily="2" charset="-122"/>
              </a:rPr>
              <a:t>再不济也可以去找本国的领事，从他那儿寻求一些基本的帮助。可是在自己国家遇上这样的事，就真没辙了。我大概得到河堤上凑合一宿了，除非碰上个够朋友的人，愿意听我诉苦，再借上点儿钱。</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可不是么，</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戈茨比慢悠悠地说，</a:t>
            </a:r>
            <a:r>
              <a:rPr lang="en-US" altLang="zh-CN" sz="2800">
                <a:latin typeface="宋体" pitchFamily="2" charset="-122"/>
                <a:ea typeface="宋体" pitchFamily="2" charset="-122"/>
              </a:rPr>
              <a:t>“</a:t>
            </a:r>
            <a:r>
              <a:rPr lang="zh-CN" altLang="en-US" sz="2800">
                <a:latin typeface="宋体" pitchFamily="2" charset="-122"/>
                <a:ea typeface="宋体" pitchFamily="2" charset="-122"/>
              </a:rPr>
              <a:t>不过你的故事有个漏洞，你拿不出那块香皂来。</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r>
              <a:rPr lang="zh-CN" altLang="en-US" sz="2800">
                <a:latin typeface="宋体" pitchFamily="2" charset="-122"/>
                <a:ea typeface="宋体" pitchFamily="2" charset="-122"/>
              </a:rPr>
              <a:t>年轻人急忙往前坐了坐，在大衣口袋里摸索一阵便跳了起来。</a:t>
            </a:r>
            <a:r>
              <a:rPr lang="en-US" altLang="zh-CN" sz="2800">
                <a:latin typeface="宋体" pitchFamily="2" charset="-122"/>
                <a:ea typeface="宋体" pitchFamily="2" charset="-122"/>
              </a:rPr>
              <a:t>“</a:t>
            </a:r>
            <a:r>
              <a:rPr lang="zh-CN" altLang="en-US" sz="2800">
                <a:latin typeface="宋体" pitchFamily="2" charset="-122"/>
                <a:ea typeface="宋体" pitchFamily="2" charset="-122"/>
              </a:rPr>
              <a:t>我准是弄丢了。</a:t>
            </a:r>
            <a:r>
              <a:rPr lang="en-US" altLang="zh-CN" sz="2800">
                <a:latin typeface="宋体" pitchFamily="2" charset="-122"/>
                <a:ea typeface="宋体" pitchFamily="2" charset="-122"/>
              </a:rPr>
              <a:t>”</a:t>
            </a:r>
            <a:r>
              <a:rPr lang="zh-CN" altLang="en-US" sz="2800">
                <a:latin typeface="宋体" pitchFamily="2" charset="-122"/>
                <a:ea typeface="宋体" pitchFamily="2" charset="-122"/>
              </a:rPr>
              <a:t>他气急败坏地咕哝道。</a:t>
            </a:r>
            <a:endParaRPr lang="zh-CN" altLang="en-US" sz="2800">
              <a:latin typeface="宋体" pitchFamily="2" charset="-122"/>
              <a:ea typeface="宋体" pitchFamily="2" charset="-122"/>
            </a:endParaRPr>
          </a:p>
          <a:p>
            <a:pPr indent="457200" fontAlgn="auto">
              <a:lnSpc>
                <a:spcPct val="100000"/>
              </a:lnSpc>
            </a:pPr>
            <a:endParaRPr lang="en-US" altLang="zh-CN" sz="2800">
              <a:latin typeface="宋体" pitchFamily="2" charset="-122"/>
              <a:ea typeface="宋体" pitchFamily="2" charset="-122"/>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819785"/>
            <a:ext cx="11768455" cy="6123940"/>
          </a:xfrm>
          <a:prstGeom prst="rect">
            <a:avLst/>
          </a:prstGeom>
          <a:noFill/>
        </p:spPr>
        <p:txBody>
          <a:bodyPr wrap="square" rtlCol="0">
            <a:spAutoFit/>
          </a:bodyPr>
          <a:p>
            <a:pPr indent="457200" fontAlgn="auto">
              <a:lnSpc>
                <a:spcPct val="100000"/>
              </a:lnSpc>
            </a:pP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一下午丢了酒店又丢香皂，这样的马虎还真是处心积虑啊。</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没等戈茨比说完，年轻人就沿着小径溜掉了。</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太遗憾了，</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戈茨比陷入了沉思，</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出来买香皂是这个故事里唯一可信的环节，可他偏偏在这细节上露了马脚。</a:t>
            </a:r>
            <a:r>
              <a:rPr lang="en-US" altLang="zh-CN" sz="2800">
                <a:latin typeface="宋体" pitchFamily="2" charset="-122"/>
                <a:ea typeface="宋体" pitchFamily="2" charset="-122"/>
                <a:sym typeface="+mn-ea"/>
              </a:rPr>
              <a:t>”</a:t>
            </a:r>
            <a:endParaRPr lang="en-US" altLang="zh-CN" sz="2800">
              <a:latin typeface="宋体" pitchFamily="2" charset="-122"/>
              <a:ea typeface="宋体" pitchFamily="2" charset="-122"/>
              <a:sym typeface="+mn-ea"/>
            </a:endParaRPr>
          </a:p>
          <a:p>
            <a:pPr indent="457200" fontAlgn="auto">
              <a:lnSpc>
                <a:spcPct val="100000"/>
              </a:lnSpc>
            </a:pPr>
            <a:r>
              <a:rPr lang="zh-CN" altLang="en-US" sz="2800">
                <a:latin typeface="宋体" pitchFamily="2" charset="-122"/>
                <a:ea typeface="宋体" pitchFamily="2" charset="-122"/>
              </a:rPr>
              <a:t>想到这里，戈茨比站起身准备离开，突然惊讶地叫出声来。长椅下的地上竟躺着一个椭圆形的小纸包，这分明就是一块香皂，准是年轻人一屁股坐下来的时候从大衣口袋里掉出来的。戈茨比立马沿着暮色笼罩的小径追了出去，急切地搜寻穿浅色大衣的年轻身影，找了半天正要放弃，却见那人站在马车道边左右徘徊。听到戈茨比招呼自己，年轻人带着不甚友好的防备猛地转过身。</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证明你故事真实性的重要目击者出现了，</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戈茨比取出那块香皂，</a:t>
            </a:r>
            <a:r>
              <a:rPr lang="en-US" altLang="zh-CN" sz="2800">
                <a:latin typeface="宋体" pitchFamily="2" charset="-122"/>
                <a:ea typeface="宋体" pitchFamily="2" charset="-122"/>
              </a:rPr>
              <a:t>“</a:t>
            </a:r>
            <a:r>
              <a:rPr lang="zh-CN" altLang="en-US" sz="2800">
                <a:latin typeface="宋体" pitchFamily="2" charset="-122"/>
                <a:ea typeface="宋体" pitchFamily="2" charset="-122"/>
              </a:rPr>
              <a:t>请原谅我的多疑，但刚才的情况确实对你不利。不知道借您一枚一英镑的金币够不够</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endParaRPr lang="en-US" altLang="zh-CN" sz="2800">
              <a:latin typeface="宋体" pitchFamily="2" charset="-122"/>
              <a:ea typeface="宋体" pitchFamily="2" charset="-122"/>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962660" y="-164909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3530" y="819785"/>
            <a:ext cx="11768455" cy="5262245"/>
          </a:xfrm>
          <a:prstGeom prst="rect">
            <a:avLst/>
          </a:prstGeom>
          <a:noFill/>
        </p:spPr>
        <p:txBody>
          <a:bodyPr wrap="square" rtlCol="0">
            <a:spAutoFit/>
          </a:bodyPr>
          <a:p>
            <a:pPr indent="457200" fontAlgn="auto">
              <a:lnSpc>
                <a:spcPct val="100000"/>
              </a:lnSpc>
            </a:pPr>
            <a:r>
              <a:rPr lang="zh-CN" altLang="en-US" sz="2800">
                <a:latin typeface="宋体" pitchFamily="2" charset="-122"/>
                <a:ea typeface="宋体" pitchFamily="2" charset="-122"/>
                <a:sym typeface="+mn-ea"/>
              </a:rPr>
              <a:t>年轻人急忙接过金币塞进兜里，从而排除了这个疑虑。</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这是我的名片，上面有我的地址，</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戈茨比接着说，</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这周我都在，哪天来还都行，香皂给你</a:t>
            </a:r>
            <a:r>
              <a:rPr lang="en-US" altLang="zh-CN" sz="2800">
                <a:latin typeface="宋体" pitchFamily="2" charset="-122"/>
                <a:ea typeface="宋体" pitchFamily="2" charset="-122"/>
                <a:sym typeface="+mn-ea"/>
              </a:rPr>
              <a:t>——</a:t>
            </a:r>
            <a:r>
              <a:rPr lang="zh-CN" altLang="en-US" sz="2800">
                <a:latin typeface="宋体" pitchFamily="2" charset="-122"/>
                <a:ea typeface="宋体" pitchFamily="2" charset="-122"/>
                <a:sym typeface="+mn-ea"/>
              </a:rPr>
              <a:t>别再弄丢这位挚友啦。</a:t>
            </a:r>
            <a:r>
              <a:rPr lang="en-US" altLang="zh-CN" sz="2800">
                <a:latin typeface="宋体" pitchFamily="2" charset="-122"/>
                <a:ea typeface="宋体" pitchFamily="2" charset="-122"/>
                <a:sym typeface="+mn-ea"/>
              </a:rPr>
              <a:t>”</a:t>
            </a:r>
            <a:endParaRPr lang="en-US" altLang="zh-CN" sz="2800">
              <a:latin typeface="宋体" pitchFamily="2" charset="-122"/>
              <a:ea typeface="宋体" pitchFamily="2" charset="-122"/>
              <a:sym typeface="+mn-ea"/>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还好你找着了。</a:t>
            </a:r>
            <a:r>
              <a:rPr lang="en-US" altLang="zh-CN" sz="2800">
                <a:latin typeface="宋体" pitchFamily="2" charset="-122"/>
                <a:ea typeface="宋体" pitchFamily="2" charset="-122"/>
              </a:rPr>
              <a:t>”</a:t>
            </a:r>
            <a:r>
              <a:rPr lang="zh-CN" altLang="en-US" sz="2800">
                <a:latin typeface="宋体" pitchFamily="2" charset="-122"/>
                <a:ea typeface="宋体" pitchFamily="2" charset="-122"/>
              </a:rPr>
              <a:t>年轻人有些哽咽，蹦出一两句感激不尽的话，然后朝着骑士桥的方向匆匆离去了。</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可怜的孩子，差点哭出来了，</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戈茨比自言自语道，</a:t>
            </a:r>
            <a:r>
              <a:rPr lang="en-US" altLang="zh-CN" sz="2800">
                <a:latin typeface="宋体" pitchFamily="2" charset="-122"/>
                <a:ea typeface="宋体" pitchFamily="2" charset="-122"/>
              </a:rPr>
              <a:t>“</a:t>
            </a:r>
            <a:r>
              <a:rPr lang="zh-CN" altLang="en-US" sz="2800">
                <a:latin typeface="宋体" pitchFamily="2" charset="-122"/>
                <a:ea typeface="宋体" pitchFamily="2" charset="-122"/>
              </a:rPr>
              <a:t>但也不足为奇，毕竟从这样的窘境里突然解脱，一时反应不过来是正常的。算是给我一个教训吧，不能再自作聪明，仅凭一时的情况就给人随便下判断。</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a:p>
            <a:pPr indent="457200" fontAlgn="auto">
              <a:lnSpc>
                <a:spcPct val="100000"/>
              </a:lnSpc>
            </a:pPr>
            <a:r>
              <a:rPr lang="zh-CN" altLang="en-US" sz="2800">
                <a:latin typeface="宋体" pitchFamily="2" charset="-122"/>
                <a:ea typeface="宋体" pitchFamily="2" charset="-122"/>
              </a:rPr>
              <a:t>戈茨比顺着原路往回走，经过先前的长椅时，戏剧性的一幕发生了。他看见一位上了年纪的先生正往长椅下面和周遭又是掏又是瞧。戈茨比认出这是先前那位跟他一起坐的老先生。</a:t>
            </a:r>
            <a:endParaRPr lang="zh-CN" altLang="en-US" sz="2800">
              <a:latin typeface="宋体" pitchFamily="2" charset="-122"/>
              <a:ea typeface="宋体" pitchFamily="2" charset="-122"/>
            </a:endParaRPr>
          </a:p>
          <a:p>
            <a:pPr indent="457200" fontAlgn="auto">
              <a:lnSpc>
                <a:spcPct val="100000"/>
              </a:lnSpc>
            </a:pPr>
            <a:r>
              <a:rPr lang="en-US" altLang="zh-CN" sz="2800">
                <a:latin typeface="宋体" pitchFamily="2" charset="-122"/>
                <a:ea typeface="宋体" pitchFamily="2" charset="-122"/>
              </a:rPr>
              <a:t>“</a:t>
            </a:r>
            <a:r>
              <a:rPr lang="zh-CN" altLang="en-US" sz="2800">
                <a:latin typeface="宋体" pitchFamily="2" charset="-122"/>
                <a:ea typeface="宋体" pitchFamily="2" charset="-122"/>
              </a:rPr>
              <a:t>先生，您丢了什么东西吗？</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戈茨比问。</a:t>
            </a:r>
            <a:r>
              <a:rPr lang="en-US" altLang="zh-CN" sz="2800">
                <a:latin typeface="宋体" pitchFamily="2" charset="-122"/>
                <a:ea typeface="宋体" pitchFamily="2" charset="-122"/>
              </a:rPr>
              <a:t>“</a:t>
            </a:r>
            <a:r>
              <a:rPr lang="zh-CN" altLang="en-US" sz="2800">
                <a:latin typeface="宋体" pitchFamily="2" charset="-122"/>
                <a:ea typeface="宋体" pitchFamily="2" charset="-122"/>
              </a:rPr>
              <a:t>是啊，丢了一块香皂。</a:t>
            </a:r>
            <a:r>
              <a:rPr lang="en-US" altLang="zh-CN" sz="2800">
                <a:latin typeface="宋体" pitchFamily="2" charset="-122"/>
                <a:ea typeface="宋体" pitchFamily="2" charset="-122"/>
              </a:rPr>
              <a:t>”</a:t>
            </a:r>
            <a:endParaRPr lang="en-US" altLang="zh-CN" sz="2800">
              <a:latin typeface="宋体" pitchFamily="2" charset="-122"/>
              <a:ea typeface="宋体" pitchFamily="2" charset="-122"/>
            </a:endParaRPr>
          </a:p>
        </p:txBody>
      </p:sp>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69340" y="-100520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581660"/>
            <a:ext cx="11403965" cy="73723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1</a:t>
            </a:r>
            <a:r>
              <a:rPr lang="zh-CN" altLang="en-US" sz="2800">
                <a:latin typeface="宋体" pitchFamily="2" charset="-122"/>
                <a:ea typeface="宋体" pitchFamily="2" charset="-122"/>
              </a:rPr>
              <a:t>）根据小说的三要素，完成下面的思维导图。</a:t>
            </a:r>
            <a:endParaRPr lang="zh-CN" altLang="en-US" sz="2800">
              <a:latin typeface="宋体" pitchFamily="2" charset="-122"/>
              <a:ea typeface="宋体" pitchFamily="2" charset="-122"/>
            </a:endParaRPr>
          </a:p>
        </p:txBody>
      </p:sp>
      <p:sp>
        <p:nvSpPr>
          <p:cNvPr id="9" name="文本框 8"/>
          <p:cNvSpPr txBox="1"/>
          <p:nvPr/>
        </p:nvSpPr>
        <p:spPr>
          <a:xfrm>
            <a:off x="855345" y="4327525"/>
            <a:ext cx="11033125" cy="600075"/>
          </a:xfrm>
          <a:prstGeom prst="rect">
            <a:avLst/>
          </a:prstGeom>
          <a:noFill/>
        </p:spPr>
        <p:txBody>
          <a:bodyPr wrap="square" rtlCol="0">
            <a:noAutofit/>
          </a:bodyPr>
          <a:p>
            <a:pPr indent="0" fontAlgn="auto">
              <a:lnSpc>
                <a:spcPct val="150000"/>
              </a:lnSpc>
            </a:pPr>
            <a:r>
              <a:rPr lang="en-US" altLang="en-US" sz="2800">
                <a:solidFill>
                  <a:srgbClr val="FF0000"/>
                </a:solidFill>
                <a:latin typeface="宋体" pitchFamily="2" charset="-122"/>
                <a:ea typeface="宋体" pitchFamily="2" charset="-122"/>
              </a:rPr>
              <a:t>③</a:t>
            </a:r>
            <a:r>
              <a:rPr lang="zh-CN" altLang="en-US" sz="2800">
                <a:solidFill>
                  <a:srgbClr val="FF0000"/>
                </a:solidFill>
                <a:latin typeface="宋体" pitchFamily="2" charset="-122"/>
                <a:ea typeface="宋体" pitchFamily="2" charset="-122"/>
              </a:rPr>
              <a:t>老人；</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⑤</a:t>
            </a:r>
            <a:r>
              <a:rPr lang="zh-CN" altLang="en-US" sz="2800">
                <a:solidFill>
                  <a:srgbClr val="FF0000"/>
                </a:solidFill>
                <a:latin typeface="宋体" pitchFamily="2" charset="-122"/>
                <a:ea typeface="宋体" pitchFamily="2" charset="-122"/>
              </a:rPr>
              <a:t>充满了欺骗和失败的现实社会；</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⑧</a:t>
            </a:r>
            <a:r>
              <a:rPr lang="zh-CN" altLang="en-US" sz="2800">
                <a:solidFill>
                  <a:srgbClr val="FF0000"/>
                </a:solidFill>
                <a:latin typeface="宋体" pitchFamily="2" charset="-122"/>
                <a:ea typeface="宋体" pitchFamily="2" charset="-122"/>
              </a:rPr>
              <a:t>葛尔特茨比发现肥皂并帮助年轻人。</a:t>
            </a:r>
            <a:endParaRPr lang="zh-CN" altLang="en-US" sz="2800">
              <a:solidFill>
                <a:srgbClr val="FF0000"/>
              </a:solidFill>
              <a:latin typeface="宋体" pitchFamily="2" charset="-122"/>
              <a:ea typeface="宋体" pitchFamily="2" charset="-122"/>
            </a:endParaRPr>
          </a:p>
        </p:txBody>
      </p:sp>
      <p:pic>
        <p:nvPicPr>
          <p:cNvPr id="3" name="图片 1" descr="IMG_256"/>
          <p:cNvPicPr>
            <a:picLocks noChangeAspect="1"/>
          </p:cNvPicPr>
          <p:nvPr/>
        </p:nvPicPr>
        <p:blipFill>
          <a:blip r:embed="rId2"/>
          <a:stretch>
            <a:fillRect/>
          </a:stretch>
        </p:blipFill>
        <p:spPr>
          <a:xfrm>
            <a:off x="1120775" y="1352550"/>
            <a:ext cx="8486140" cy="3088640"/>
          </a:xfrm>
          <a:prstGeom prst="rect">
            <a:avLst/>
          </a:prstGeom>
          <a:noFill/>
          <a:ln w="9525">
            <a:noFill/>
          </a:ln>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69340" y="-100520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125095"/>
            <a:ext cx="11403965" cy="138366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2</a:t>
            </a:r>
            <a:r>
              <a:rPr lang="zh-CN" altLang="en-US" sz="2800">
                <a:latin typeface="宋体" pitchFamily="2" charset="-122"/>
                <a:ea typeface="宋体" pitchFamily="2" charset="-122"/>
              </a:rPr>
              <a:t>）小说构思巧妙，情节设计出乎意料又合乎情理，这得益于作者巧设伏笔。请从文中至少找出两处伏笔并简要分析。</a:t>
            </a:r>
            <a:endParaRPr lang="zh-CN" altLang="en-US" sz="2800">
              <a:latin typeface="宋体" pitchFamily="2" charset="-122"/>
              <a:ea typeface="宋体" pitchFamily="2" charset="-122"/>
            </a:endParaRPr>
          </a:p>
        </p:txBody>
      </p:sp>
      <p:sp>
        <p:nvSpPr>
          <p:cNvPr id="9" name="文本框 8"/>
          <p:cNvSpPr txBox="1"/>
          <p:nvPr/>
        </p:nvSpPr>
        <p:spPr>
          <a:xfrm>
            <a:off x="788035" y="1496695"/>
            <a:ext cx="11033125" cy="600075"/>
          </a:xfrm>
          <a:prstGeom prst="rect">
            <a:avLst/>
          </a:prstGeom>
          <a:noFill/>
        </p:spPr>
        <p:txBody>
          <a:bodyPr wrap="square" rtlCol="0">
            <a:noAutofit/>
          </a:bodyPr>
          <a:p>
            <a:pPr indent="0" fontAlgn="auto">
              <a:lnSpc>
                <a:spcPct val="150000"/>
              </a:lnSpc>
            </a:pPr>
            <a:r>
              <a:rPr lang="zh-CN" altLang="en-US" sz="2800">
                <a:solidFill>
                  <a:srgbClr val="FF0000"/>
                </a:solidFill>
                <a:latin typeface="宋体" pitchFamily="2" charset="-122"/>
                <a:ea typeface="宋体" pitchFamily="2" charset="-122"/>
              </a:rPr>
              <a:t>伏笔一，年轻人说</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我干了这辈子最蠢的一件事</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，后面详细讲述自己忘记酒店地址和没钱的遭遇，为他向戈茨比借钱埋下伏笔。</a:t>
            </a:r>
            <a:endParaRPr lang="zh-CN" altLang="en-US" sz="2800">
              <a:solidFill>
                <a:srgbClr val="FF0000"/>
              </a:solidFill>
              <a:latin typeface="宋体" pitchFamily="2" charset="-122"/>
              <a:ea typeface="宋体" pitchFamily="2" charset="-122"/>
            </a:endParaRPr>
          </a:p>
        </p:txBody>
      </p:sp>
      <p:sp>
        <p:nvSpPr>
          <p:cNvPr id="6" name="文本框 5"/>
          <p:cNvSpPr txBox="1"/>
          <p:nvPr/>
        </p:nvSpPr>
        <p:spPr>
          <a:xfrm>
            <a:off x="675005" y="2828925"/>
            <a:ext cx="11033125" cy="600075"/>
          </a:xfrm>
          <a:prstGeom prst="rect">
            <a:avLst/>
          </a:prstGeom>
          <a:noFill/>
        </p:spPr>
        <p:txBody>
          <a:bodyPr wrap="square" rtlCol="0">
            <a:noAutofit/>
          </a:bodyPr>
          <a:p>
            <a:pPr indent="0" fontAlgn="auto">
              <a:lnSpc>
                <a:spcPct val="150000"/>
              </a:lnSpc>
            </a:pPr>
            <a:r>
              <a:rPr lang="zh-CN" altLang="en-US" sz="2800">
                <a:solidFill>
                  <a:srgbClr val="FF0000"/>
                </a:solidFill>
                <a:latin typeface="宋体" pitchFamily="2" charset="-122"/>
                <a:ea typeface="宋体" pitchFamily="2" charset="-122"/>
              </a:rPr>
              <a:t>伏笔二，戈茨比说</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你的故事有个漏洞，你拿不出那块香皂来</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，暗示后面可能会出现香皂相关的情节，也为年轻人因</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丢</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了香皂而溜走，以及戈茨比后来捡到香皂作了铺垫。</a:t>
            </a:r>
            <a:endParaRPr lang="zh-CN" altLang="en-US" sz="2800">
              <a:solidFill>
                <a:srgbClr val="FF0000"/>
              </a:solidFill>
              <a:latin typeface="宋体" pitchFamily="2" charset="-122"/>
              <a:ea typeface="宋体" pitchFamily="2" charset="-122"/>
            </a:endParaRPr>
          </a:p>
        </p:txBody>
      </p:sp>
      <p:sp>
        <p:nvSpPr>
          <p:cNvPr id="7" name="文本框 6"/>
          <p:cNvSpPr txBox="1"/>
          <p:nvPr/>
        </p:nvSpPr>
        <p:spPr>
          <a:xfrm>
            <a:off x="429260" y="4749165"/>
            <a:ext cx="11033125" cy="600075"/>
          </a:xfrm>
          <a:prstGeom prst="rect">
            <a:avLst/>
          </a:prstGeom>
          <a:noFill/>
        </p:spPr>
        <p:txBody>
          <a:bodyPr wrap="square" rtlCol="0">
            <a:noAutofit/>
          </a:bodyPr>
          <a:p>
            <a:pPr indent="0" fontAlgn="auto">
              <a:lnSpc>
                <a:spcPct val="150000"/>
              </a:lnSpc>
            </a:pPr>
            <a:r>
              <a:rPr lang="zh-CN" altLang="en-US" sz="2800">
                <a:solidFill>
                  <a:srgbClr val="FF0000"/>
                </a:solidFill>
                <a:latin typeface="宋体" pitchFamily="2" charset="-122"/>
                <a:ea typeface="宋体" pitchFamily="2" charset="-122"/>
              </a:rPr>
              <a:t>伏笔三，年轻人在大衣口袋里摸索一阵后气急败坏地说</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我准是弄丢了</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，为下文戈茨比发现长椅下的香皂是老先生的埋下伏笔，暗示年轻人其实没有香皂，是在说谎。</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6" grpId="0"/>
      <p:bldP spid="6" grpId="1"/>
      <p:bldP spid="7" grpId="0"/>
      <p:bldP spid="7"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69340" y="-100520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581660"/>
            <a:ext cx="11403965" cy="203009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3</a:t>
            </a:r>
            <a:r>
              <a:rPr lang="zh-CN" altLang="en-US" sz="2800">
                <a:latin typeface="宋体" pitchFamily="2" charset="-122"/>
                <a:ea typeface="宋体" pitchFamily="2" charset="-122"/>
              </a:rPr>
              <a:t>）结合上下文，从词语运用的角度，赏析文中加点词语的表达效果。</a:t>
            </a:r>
            <a:endParaRPr lang="zh-CN" altLang="en-US" sz="2800">
              <a:latin typeface="宋体" pitchFamily="2" charset="-122"/>
              <a:ea typeface="宋体" pitchFamily="2" charset="-122"/>
            </a:endParaRPr>
          </a:p>
          <a:p>
            <a:pPr indent="457200" fontAlgn="auto">
              <a:lnSpc>
                <a:spcPct val="150000"/>
              </a:lnSpc>
            </a:pPr>
            <a:r>
              <a:rPr lang="en-US" altLang="en-US" sz="2800">
                <a:latin typeface="宋体" pitchFamily="2" charset="-122"/>
                <a:ea typeface="宋体" pitchFamily="2" charset="-122"/>
              </a:rPr>
              <a:t>①</a:t>
            </a:r>
            <a:r>
              <a:rPr lang="en-US" altLang="zh-CN" sz="2800">
                <a:latin typeface="宋体" pitchFamily="2" charset="-122"/>
                <a:ea typeface="宋体" pitchFamily="2" charset="-122"/>
              </a:rPr>
              <a:t>“</a:t>
            </a:r>
            <a:r>
              <a:rPr lang="zh-CN" altLang="en-US" sz="2800">
                <a:latin typeface="宋体" pitchFamily="2" charset="-122"/>
                <a:ea typeface="宋体" pitchFamily="2" charset="-122"/>
              </a:rPr>
              <a:t>哦？</a:t>
            </a:r>
            <a:r>
              <a:rPr lang="en-US" altLang="zh-CN" sz="2800">
                <a:latin typeface="宋体" pitchFamily="2" charset="-122"/>
                <a:ea typeface="宋体" pitchFamily="2" charset="-122"/>
              </a:rPr>
              <a:t>”</a:t>
            </a:r>
            <a:r>
              <a:rPr lang="zh-CN" altLang="en-US" sz="2800">
                <a:latin typeface="宋体" pitchFamily="2" charset="-122"/>
                <a:ea typeface="宋体" pitchFamily="2" charset="-122"/>
              </a:rPr>
              <a:t>戈茨比冷冷地应声。</a:t>
            </a:r>
            <a:endParaRPr lang="zh-CN" altLang="en-US" sz="2800">
              <a:latin typeface="宋体" pitchFamily="2" charset="-122"/>
              <a:ea typeface="宋体" pitchFamily="2" charset="-122"/>
            </a:endParaRPr>
          </a:p>
        </p:txBody>
      </p:sp>
      <p:sp>
        <p:nvSpPr>
          <p:cNvPr id="9" name="文本框 8"/>
          <p:cNvSpPr txBox="1"/>
          <p:nvPr/>
        </p:nvSpPr>
        <p:spPr>
          <a:xfrm>
            <a:off x="855345" y="3329305"/>
            <a:ext cx="11033125" cy="600075"/>
          </a:xfrm>
          <a:prstGeom prst="rect">
            <a:avLst/>
          </a:prstGeom>
          <a:noFill/>
        </p:spPr>
        <p:txBody>
          <a:bodyPr wrap="square" rtlCol="0">
            <a:noAutofit/>
          </a:bodyPr>
          <a:p>
            <a:pPr indent="0" fontAlgn="auto">
              <a:lnSpc>
                <a:spcPct val="150000"/>
              </a:lnSpc>
            </a:pP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冷冷地</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一词，生动地表现出戈茨比对年轻人的话持怀疑和戒备的态度，刻画了戈茨比谨慎、多疑的性格特点。</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69340" y="-100520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581660"/>
            <a:ext cx="11403965" cy="737235"/>
          </a:xfrm>
          <a:prstGeom prst="rect">
            <a:avLst/>
          </a:prstGeom>
          <a:noFill/>
        </p:spPr>
        <p:txBody>
          <a:bodyPr wrap="square" rtlCol="0">
            <a:spAutoFit/>
          </a:bodyPr>
          <a:p>
            <a:pPr indent="457200" fontAlgn="auto">
              <a:lnSpc>
                <a:spcPct val="150000"/>
              </a:lnSpc>
            </a:pPr>
            <a:r>
              <a:rPr lang="en-US" altLang="en-US" sz="2800">
                <a:latin typeface="宋体" pitchFamily="2" charset="-122"/>
                <a:ea typeface="宋体" pitchFamily="2" charset="-122"/>
              </a:rPr>
              <a:t>②</a:t>
            </a:r>
            <a:r>
              <a:rPr lang="zh-CN" altLang="en-US" sz="2800">
                <a:latin typeface="宋体" pitchFamily="2" charset="-122"/>
                <a:ea typeface="宋体" pitchFamily="2" charset="-122"/>
              </a:rPr>
              <a:t>没等戈茨比说完，年轻人就沿着小径溜掉了。</a:t>
            </a:r>
            <a:endParaRPr lang="zh-CN" altLang="en-US" sz="2800">
              <a:latin typeface="宋体" pitchFamily="2" charset="-122"/>
              <a:ea typeface="宋体" pitchFamily="2" charset="-122"/>
            </a:endParaRPr>
          </a:p>
        </p:txBody>
      </p:sp>
      <p:sp>
        <p:nvSpPr>
          <p:cNvPr id="9" name="文本框 8"/>
          <p:cNvSpPr txBox="1"/>
          <p:nvPr/>
        </p:nvSpPr>
        <p:spPr>
          <a:xfrm>
            <a:off x="675005" y="2096770"/>
            <a:ext cx="11033125" cy="600075"/>
          </a:xfrm>
          <a:prstGeom prst="rect">
            <a:avLst/>
          </a:prstGeom>
          <a:noFill/>
        </p:spPr>
        <p:txBody>
          <a:bodyPr wrap="square" rtlCol="0">
            <a:noAutofit/>
          </a:bodyPr>
          <a:p>
            <a:pPr indent="0" fontAlgn="auto">
              <a:lnSpc>
                <a:spcPct val="150000"/>
              </a:lnSpc>
            </a:pP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溜</a:t>
            </a:r>
            <a:r>
              <a:rPr lang="en-US" altLang="zh-CN" sz="2800">
                <a:solidFill>
                  <a:srgbClr val="FF0000"/>
                </a:solidFill>
                <a:latin typeface="宋体" pitchFamily="2" charset="-122"/>
                <a:ea typeface="宋体" pitchFamily="2" charset="-122"/>
              </a:rPr>
              <a:t>”</a:t>
            </a:r>
            <a:r>
              <a:rPr lang="zh-CN" altLang="en-US" sz="2800">
                <a:solidFill>
                  <a:srgbClr val="FF0000"/>
                </a:solidFill>
                <a:latin typeface="宋体" pitchFamily="2" charset="-122"/>
                <a:ea typeface="宋体" pitchFamily="2" charset="-122"/>
              </a:rPr>
              <a:t>字写出了年轻人听到戈茨比质疑后，慌张离开的状态，表现出他的心虚。</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187960" y="333375"/>
            <a:ext cx="11807825"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69340" y="-100520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426720"/>
            <a:ext cx="11403965" cy="73723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a:t>
            </a:r>
            <a:r>
              <a:rPr lang="en-US" altLang="zh-CN" sz="2800">
                <a:latin typeface="宋体" pitchFamily="2" charset="-122"/>
                <a:ea typeface="宋体" pitchFamily="2" charset="-122"/>
              </a:rPr>
              <a:t>4</a:t>
            </a:r>
            <a:r>
              <a:rPr lang="zh-CN" altLang="en-US" sz="2800">
                <a:latin typeface="宋体" pitchFamily="2" charset="-122"/>
                <a:ea typeface="宋体" pitchFamily="2" charset="-122"/>
              </a:rPr>
              <a:t>）</a:t>
            </a:r>
            <a:r>
              <a:rPr lang="en-US" altLang="zh-CN" sz="2800">
                <a:latin typeface="宋体" pitchFamily="2" charset="-122"/>
                <a:ea typeface="宋体" pitchFamily="2" charset="-122"/>
              </a:rPr>
              <a:t>“</a:t>
            </a:r>
            <a:r>
              <a:rPr lang="zh-CN" altLang="en-US" sz="2800">
                <a:latin typeface="宋体" pitchFamily="2" charset="-122"/>
                <a:ea typeface="宋体" pitchFamily="2" charset="-122"/>
              </a:rPr>
              <a:t>一块香皂</a:t>
            </a:r>
            <a:r>
              <a:rPr lang="en-US" altLang="zh-CN" sz="2800">
                <a:latin typeface="宋体" pitchFamily="2" charset="-122"/>
                <a:ea typeface="宋体" pitchFamily="2" charset="-122"/>
              </a:rPr>
              <a:t>”</a:t>
            </a:r>
            <a:r>
              <a:rPr lang="zh-CN" altLang="en-US" sz="2800">
                <a:latin typeface="宋体" pitchFamily="2" charset="-122"/>
                <a:ea typeface="宋体" pitchFamily="2" charset="-122"/>
              </a:rPr>
              <a:t>在文中出现了十几次，它在本文中有什么作用？</a:t>
            </a:r>
            <a:endParaRPr lang="zh-CN" altLang="en-US" sz="2800">
              <a:latin typeface="宋体" pitchFamily="2" charset="-122"/>
              <a:ea typeface="宋体" pitchFamily="2" charset="-122"/>
            </a:endParaRPr>
          </a:p>
        </p:txBody>
      </p:sp>
      <p:sp>
        <p:nvSpPr>
          <p:cNvPr id="9" name="文本框 8"/>
          <p:cNvSpPr txBox="1"/>
          <p:nvPr/>
        </p:nvSpPr>
        <p:spPr>
          <a:xfrm>
            <a:off x="675005" y="1163955"/>
            <a:ext cx="11033125" cy="600075"/>
          </a:xfrm>
          <a:prstGeom prst="rect">
            <a:avLst/>
          </a:prstGeom>
          <a:noFill/>
        </p:spPr>
        <p:txBody>
          <a:bodyPr wrap="square" rtlCol="0">
            <a:noAutofit/>
          </a:bodyPr>
          <a:p>
            <a:pPr indent="0" fontAlgn="auto">
              <a:lnSpc>
                <a:spcPct val="150000"/>
              </a:lnSpc>
            </a:pPr>
            <a:r>
              <a:rPr lang="zh-CN" altLang="en-US" sz="2800">
                <a:solidFill>
                  <a:schemeClr val="tx1"/>
                </a:solidFill>
                <a:latin typeface="宋体" pitchFamily="2" charset="-122"/>
                <a:ea typeface="宋体" pitchFamily="2" charset="-122"/>
              </a:rPr>
              <a:t>内容上</a:t>
            </a:r>
            <a:r>
              <a:rPr lang="zh-CN" altLang="en-US" sz="2800">
                <a:solidFill>
                  <a:srgbClr val="FF0000"/>
                </a:solidFill>
                <a:latin typeface="宋体" pitchFamily="2" charset="-122"/>
                <a:ea typeface="宋体" pitchFamily="2" charset="-122"/>
              </a:rPr>
              <a:t>，</a:t>
            </a:r>
            <a:r>
              <a:rPr lang="en-US" altLang="en-US" sz="2800">
                <a:solidFill>
                  <a:srgbClr val="FF0000"/>
                </a:solidFill>
                <a:latin typeface="宋体" pitchFamily="2" charset="-122"/>
                <a:ea typeface="宋体" pitchFamily="2" charset="-122"/>
              </a:rPr>
              <a:t>①</a:t>
            </a:r>
            <a:r>
              <a:rPr lang="zh-CN" altLang="en-US" sz="2800">
                <a:solidFill>
                  <a:srgbClr val="FF0000"/>
                </a:solidFill>
                <a:latin typeface="宋体" pitchFamily="2" charset="-122"/>
                <a:ea typeface="宋体" pitchFamily="2" charset="-122"/>
              </a:rPr>
              <a:t>有助于刻画人物。穷困的年轻人却讨厌旅店里的香皂，说明他的价值观出了问题，也成为葛尔特茨比认为他是骗子的依据。</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②</a:t>
            </a:r>
            <a:r>
              <a:rPr lang="zh-CN" altLang="en-US" sz="2800">
                <a:solidFill>
                  <a:srgbClr val="FF0000"/>
                </a:solidFill>
                <a:latin typeface="宋体" pitchFamily="2" charset="-122"/>
                <a:ea typeface="宋体" pitchFamily="2" charset="-122"/>
              </a:rPr>
              <a:t>有助于表现主题。葛尔特茨比觉得年轻人如果在香皂的包装、封记等细节上多用心思设计便可以成为骗子行当里出类拔萃的人物，揭示了当时社会人与人之间的冷漠和不信任。</a:t>
            </a:r>
            <a:endParaRPr lang="zh-CN" altLang="en-US" sz="2800">
              <a:solidFill>
                <a:srgbClr val="FF0000"/>
              </a:solidFill>
              <a:latin typeface="宋体" pitchFamily="2" charset="-122"/>
              <a:ea typeface="宋体" pitchFamily="2" charset="-122"/>
            </a:endParaRPr>
          </a:p>
          <a:p>
            <a:pPr indent="0" fontAlgn="auto">
              <a:lnSpc>
                <a:spcPct val="150000"/>
              </a:lnSpc>
            </a:pPr>
            <a:r>
              <a:rPr lang="zh-CN" altLang="en-US" sz="2800">
                <a:solidFill>
                  <a:schemeClr val="tx1"/>
                </a:solidFill>
                <a:latin typeface="宋体" pitchFamily="2" charset="-122"/>
                <a:ea typeface="宋体" pitchFamily="2" charset="-122"/>
              </a:rPr>
              <a:t>结构上</a:t>
            </a:r>
            <a:r>
              <a:rPr lang="zh-CN" altLang="en-US" sz="2800">
                <a:solidFill>
                  <a:srgbClr val="FF0000"/>
                </a:solidFill>
                <a:latin typeface="宋体" pitchFamily="2" charset="-122"/>
                <a:ea typeface="宋体" pitchFamily="2" charset="-122"/>
              </a:rPr>
              <a:t>，</a:t>
            </a:r>
            <a:r>
              <a:rPr lang="en-US" altLang="en-US" sz="2800">
                <a:solidFill>
                  <a:srgbClr val="FF0000"/>
                </a:solidFill>
                <a:latin typeface="宋体" pitchFamily="2" charset="-122"/>
                <a:ea typeface="宋体" pitchFamily="2" charset="-122"/>
              </a:rPr>
              <a:t>①</a:t>
            </a:r>
            <a:r>
              <a:rPr lang="zh-CN" altLang="en-US" sz="2800">
                <a:solidFill>
                  <a:srgbClr val="FF0000"/>
                </a:solidFill>
                <a:latin typeface="宋体" pitchFamily="2" charset="-122"/>
                <a:ea typeface="宋体" pitchFamily="2" charset="-122"/>
              </a:rPr>
              <a:t>作为本文的线索。三个人物、全部事件都跟香皂有关；</a:t>
            </a:r>
            <a:endParaRPr lang="zh-CN" altLang="en-US" sz="2800">
              <a:solidFill>
                <a:srgbClr val="FF0000"/>
              </a:solidFill>
              <a:latin typeface="宋体" pitchFamily="2" charset="-122"/>
              <a:ea typeface="宋体" pitchFamily="2" charset="-122"/>
            </a:endParaRPr>
          </a:p>
          <a:p>
            <a:pPr indent="0" fontAlgn="auto">
              <a:lnSpc>
                <a:spcPct val="150000"/>
              </a:lnSpc>
            </a:pPr>
            <a:r>
              <a:rPr lang="en-US" altLang="en-US" sz="2800">
                <a:solidFill>
                  <a:srgbClr val="FF0000"/>
                </a:solidFill>
                <a:latin typeface="宋体" pitchFamily="2" charset="-122"/>
                <a:ea typeface="宋体" pitchFamily="2" charset="-122"/>
              </a:rPr>
              <a:t>②</a:t>
            </a:r>
            <a:r>
              <a:rPr lang="zh-CN" altLang="en-US" sz="2800">
                <a:solidFill>
                  <a:srgbClr val="FF0000"/>
                </a:solidFill>
                <a:latin typeface="宋体" pitchFamily="2" charset="-122"/>
                <a:ea typeface="宋体" pitchFamily="2" charset="-122"/>
              </a:rPr>
              <a:t>推动情节发展。作为重要物品，全部情节在买香皂、失香皂、疑香皂、还香皂、找香皂中向前推进，使故事一波三折，增强了故事的可读性。</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椭圆 10"/>
          <p:cNvSpPr/>
          <p:nvPr/>
        </p:nvSpPr>
        <p:spPr>
          <a:xfrm>
            <a:off x="10909300" y="333375"/>
            <a:ext cx="684530" cy="684530"/>
          </a:xfrm>
          <a:prstGeom prst="ellipse">
            <a:avLst/>
          </a:prstGeom>
          <a:solidFill>
            <a:srgbClr val="B2C2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矩形 7"/>
          <p:cNvSpPr/>
          <p:nvPr/>
        </p:nvSpPr>
        <p:spPr>
          <a:xfrm>
            <a:off x="187960" y="333375"/>
            <a:ext cx="11807825"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矩形 3"/>
          <p:cNvSpPr/>
          <p:nvPr/>
        </p:nvSpPr>
        <p:spPr>
          <a:xfrm>
            <a:off x="-1069340" y="-1005205"/>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5" name="矩形 4"/>
          <p:cNvSpPr/>
          <p:nvPr/>
        </p:nvSpPr>
        <p:spPr>
          <a:xfrm flipH="1">
            <a:off x="6522720" y="4098290"/>
            <a:ext cx="6535420" cy="4434205"/>
          </a:xfrm>
          <a:prstGeom prst="rect">
            <a:avLst/>
          </a:prstGeom>
          <a:blipFill rotWithShape="1">
            <a:blip r:embed="rId1">
              <a:alphaModFix amt="3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椭圆 9"/>
          <p:cNvSpPr/>
          <p:nvPr/>
        </p:nvSpPr>
        <p:spPr>
          <a:xfrm>
            <a:off x="560705" y="263525"/>
            <a:ext cx="895985" cy="895985"/>
          </a:xfrm>
          <a:prstGeom prst="ellipse">
            <a:avLst/>
          </a:prstGeom>
          <a:solidFill>
            <a:srgbClr val="EDD0B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椭圆 11"/>
          <p:cNvSpPr/>
          <p:nvPr/>
        </p:nvSpPr>
        <p:spPr>
          <a:xfrm>
            <a:off x="429260" y="2096770"/>
            <a:ext cx="514985" cy="514985"/>
          </a:xfrm>
          <a:prstGeom prst="ellipse">
            <a:avLst/>
          </a:prstGeom>
          <a:solidFill>
            <a:srgbClr val="E2D1C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文本框 1"/>
          <p:cNvSpPr txBox="1"/>
          <p:nvPr/>
        </p:nvSpPr>
        <p:spPr>
          <a:xfrm>
            <a:off x="304165" y="426720"/>
            <a:ext cx="11403965" cy="1383665"/>
          </a:xfrm>
          <a:prstGeom prst="rect">
            <a:avLst/>
          </a:prstGeom>
          <a:noFill/>
        </p:spPr>
        <p:txBody>
          <a:bodyPr wrap="square" rtlCol="0">
            <a:spAutoFit/>
          </a:bodyPr>
          <a:p>
            <a:pPr indent="457200" fontAlgn="auto">
              <a:lnSpc>
                <a:spcPct val="150000"/>
              </a:lnSpc>
            </a:pPr>
            <a:r>
              <a:rPr lang="zh-CN" altLang="en-US" sz="2800">
                <a:latin typeface="宋体" pitchFamily="2" charset="-122"/>
                <a:ea typeface="宋体" pitchFamily="2" charset="-122"/>
              </a:rPr>
              <a:t>小越觉得戈茨比这个人物形象充分体现了人性的复杂与多面，请你结合全文简要分析。</a:t>
            </a:r>
            <a:endParaRPr lang="zh-CN" altLang="en-US" sz="2800">
              <a:latin typeface="宋体" pitchFamily="2" charset="-122"/>
              <a:ea typeface="宋体" pitchFamily="2" charset="-122"/>
            </a:endParaRPr>
          </a:p>
        </p:txBody>
      </p:sp>
      <p:sp>
        <p:nvSpPr>
          <p:cNvPr id="9" name="文本框 8"/>
          <p:cNvSpPr txBox="1"/>
          <p:nvPr/>
        </p:nvSpPr>
        <p:spPr>
          <a:xfrm>
            <a:off x="675005" y="2011680"/>
            <a:ext cx="11033125" cy="600075"/>
          </a:xfrm>
          <a:prstGeom prst="rect">
            <a:avLst/>
          </a:prstGeom>
          <a:noFill/>
        </p:spPr>
        <p:txBody>
          <a:bodyPr wrap="square" rtlCol="0">
            <a:noAutofit/>
          </a:bodyPr>
          <a:p>
            <a:pPr indent="0" fontAlgn="auto">
              <a:lnSpc>
                <a:spcPct val="150000"/>
              </a:lnSpc>
            </a:pPr>
            <a:r>
              <a:rPr lang="zh-CN" altLang="en-US" sz="2800">
                <a:solidFill>
                  <a:srgbClr val="FF0000"/>
                </a:solidFill>
                <a:latin typeface="宋体" pitchFamily="2" charset="-122"/>
                <a:ea typeface="宋体" pitchFamily="2" charset="-122"/>
              </a:rPr>
              <a:t>戈茨比把自己归入失意者队伍，体现出他的消极、悲观。</a:t>
            </a:r>
            <a:endParaRPr lang="zh-CN" altLang="en-US" sz="2800">
              <a:solidFill>
                <a:srgbClr val="FF0000"/>
              </a:solidFill>
              <a:latin typeface="宋体" pitchFamily="2" charset="-122"/>
              <a:ea typeface="宋体" pitchFamily="2" charset="-122"/>
            </a:endParaRPr>
          </a:p>
          <a:p>
            <a:pPr indent="0" fontAlgn="auto">
              <a:lnSpc>
                <a:spcPct val="150000"/>
              </a:lnSpc>
            </a:pPr>
            <a:r>
              <a:rPr lang="zh-CN" altLang="en-US" sz="2800">
                <a:solidFill>
                  <a:srgbClr val="FF0000"/>
                </a:solidFill>
                <a:latin typeface="宋体" pitchFamily="2" charset="-122"/>
                <a:ea typeface="宋体" pitchFamily="2" charset="-122"/>
              </a:rPr>
              <a:t>他对年轻人一开始持怀疑态度，说明他有警惕性和判断力。</a:t>
            </a:r>
            <a:endParaRPr lang="zh-CN" altLang="en-US" sz="2800">
              <a:solidFill>
                <a:srgbClr val="FF0000"/>
              </a:solidFill>
              <a:latin typeface="宋体" pitchFamily="2" charset="-122"/>
              <a:ea typeface="宋体" pitchFamily="2" charset="-122"/>
            </a:endParaRPr>
          </a:p>
          <a:p>
            <a:pPr indent="0" fontAlgn="auto">
              <a:lnSpc>
                <a:spcPct val="150000"/>
              </a:lnSpc>
            </a:pPr>
            <a:r>
              <a:rPr lang="zh-CN" altLang="en-US" sz="2800">
                <a:solidFill>
                  <a:srgbClr val="FF0000"/>
                </a:solidFill>
                <a:latin typeface="宋体" pitchFamily="2" charset="-122"/>
                <a:ea typeface="宋体" pitchFamily="2" charset="-122"/>
              </a:rPr>
              <a:t>他轻易相信了年轻人，表现出他的善良和容易轻信他人。</a:t>
            </a:r>
            <a:endParaRPr lang="zh-CN" altLang="en-US" sz="2800">
              <a:solidFill>
                <a:srgbClr val="FF0000"/>
              </a:solidFill>
              <a:latin typeface="宋体" pitchFamily="2" charset="-122"/>
              <a:ea typeface="宋体" pitchFamily="2" charset="-122"/>
            </a:endParaRPr>
          </a:p>
          <a:p>
            <a:pPr indent="0" fontAlgn="auto">
              <a:lnSpc>
                <a:spcPct val="150000"/>
              </a:lnSpc>
            </a:pPr>
            <a:r>
              <a:rPr lang="zh-CN" altLang="en-US" sz="2800">
                <a:solidFill>
                  <a:srgbClr val="FF0000"/>
                </a:solidFill>
                <a:latin typeface="宋体" pitchFamily="2" charset="-122"/>
                <a:ea typeface="宋体" pitchFamily="2" charset="-122"/>
              </a:rPr>
              <a:t>他意识到自己可能被骗，又自我反思，说明他有自我反省的意识。</a:t>
            </a:r>
            <a:endParaRPr lang="zh-CN" altLang="en-US" sz="2800">
              <a:solidFill>
                <a:srgbClr val="FF0000"/>
              </a:solidFill>
              <a:latin typeface="宋体" pitchFamily="2" charset="-122"/>
              <a:ea typeface="宋体"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03530" y="333375"/>
            <a:ext cx="11584940" cy="6179185"/>
          </a:xfrm>
          <a:prstGeom prst="rect">
            <a:avLst/>
          </a:prstGeom>
          <a:noFill/>
          <a:ln>
            <a:solidFill>
              <a:srgbClr val="C8C8C8"/>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1"/>
          <p:cNvSpPr/>
          <p:nvPr/>
        </p:nvSpPr>
        <p:spPr>
          <a:xfrm rot="20760000">
            <a:off x="-938530" y="-1080135"/>
            <a:ext cx="7324725" cy="4309110"/>
          </a:xfrm>
          <a:prstGeom prst="rect">
            <a:avLst/>
          </a:prstGeom>
          <a:blipFill rotWithShape="1">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7" name="矩形 1"/>
          <p:cNvSpPr/>
          <p:nvPr/>
        </p:nvSpPr>
        <p:spPr>
          <a:xfrm rot="9660000">
            <a:off x="6306820" y="3671570"/>
            <a:ext cx="6658610" cy="4420235"/>
          </a:xfrm>
          <a:prstGeom prst="rect">
            <a:avLst/>
          </a:prstGeom>
          <a:blipFill rotWithShape="1">
            <a:blip r:embed="rId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文本框 8"/>
          <p:cNvSpPr txBox="1"/>
          <p:nvPr/>
        </p:nvSpPr>
        <p:spPr>
          <a:xfrm>
            <a:off x="4257040" y="2294255"/>
            <a:ext cx="3947795" cy="1014730"/>
          </a:xfrm>
          <a:prstGeom prst="rect">
            <a:avLst/>
          </a:prstGeom>
          <a:noFill/>
        </p:spPr>
        <p:txBody>
          <a:bodyPr wrap="square" rtlCol="0">
            <a:spAutoFit/>
          </a:bodyPr>
          <a:p>
            <a:r>
              <a:rPr lang="zh-CN" altLang="en-US" sz="6000">
                <a:solidFill>
                  <a:srgbClr val="B2C2C9"/>
                </a:solidFill>
                <a:latin typeface="华文中宋" panose="02010600040101010101" charset="-122"/>
                <a:ea typeface="华文中宋" panose="02010600040101010101" charset="-122"/>
              </a:rPr>
              <a:t>感</a:t>
            </a:r>
            <a:r>
              <a:rPr lang="zh-CN" altLang="en-US" sz="6000">
                <a:solidFill>
                  <a:srgbClr val="E3D1CA"/>
                </a:solidFill>
                <a:latin typeface="华文中宋" panose="02010600040101010101" charset="-122"/>
                <a:ea typeface="华文中宋" panose="02010600040101010101" charset="-122"/>
              </a:rPr>
              <a:t>谢</a:t>
            </a:r>
            <a:r>
              <a:rPr lang="en-US" altLang="zh-CN" sz="6000">
                <a:solidFill>
                  <a:srgbClr val="E3D1CA"/>
                </a:solidFill>
                <a:latin typeface="华文中宋" panose="02010600040101010101" charset="-122"/>
                <a:ea typeface="华文中宋" panose="02010600040101010101" charset="-122"/>
              </a:rPr>
              <a:t>,</a:t>
            </a:r>
            <a:r>
              <a:rPr lang="zh-CN" altLang="en-US" sz="6000">
                <a:solidFill>
                  <a:srgbClr val="ECCFBD"/>
                </a:solidFill>
                <a:latin typeface="华文中宋" panose="02010600040101010101" charset="-122"/>
                <a:ea typeface="华文中宋" panose="02010600040101010101" charset="-122"/>
              </a:rPr>
              <a:t>聆</a:t>
            </a:r>
            <a:r>
              <a:rPr lang="zh-CN" altLang="en-US" sz="6000">
                <a:solidFill>
                  <a:srgbClr val="B2C2C9"/>
                </a:solidFill>
                <a:latin typeface="华文中宋" panose="02010600040101010101" charset="-122"/>
                <a:ea typeface="华文中宋" panose="02010600040101010101" charset="-122"/>
              </a:rPr>
              <a:t>听！</a:t>
            </a:r>
            <a:endParaRPr lang="zh-CN" altLang="en-US" sz="6000">
              <a:solidFill>
                <a:srgbClr val="B2C2C9"/>
              </a:solidFill>
              <a:latin typeface="华文中宋" panose="02010600040101010101" charset="-122"/>
              <a:ea typeface="华文中宋" panose="0201060004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5395</Words>
  <Application>WPS 演示</Application>
  <PresentationFormat>宽屏</PresentationFormat>
  <Paragraphs>137</Paragraphs>
  <Slides>24</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宋体</vt:lpstr>
      <vt:lpstr>Wingdings</vt:lpstr>
      <vt:lpstr>微软雅黑</vt:lpstr>
      <vt:lpstr>汉仪旗黑</vt:lpstr>
      <vt:lpstr>Wingdings</vt:lpstr>
      <vt:lpstr>Calibri</vt:lpstr>
      <vt:lpstr>Helvetica Neue</vt:lpstr>
      <vt:lpstr>华文中宋</vt:lpstr>
      <vt:lpstr>黑体</vt:lpstr>
      <vt:lpstr>宋体-简</vt:lpstr>
      <vt:lpstr>宋体</vt:lpstr>
      <vt:lpstr>Arial Unicode MS</vt:lpstr>
      <vt:lpstr>黑体-简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JOEdan乔</cp:lastModifiedBy>
  <cp:revision>182</cp:revision>
  <dcterms:created xsi:type="dcterms:W3CDTF">2025-08-13T13:10:03Z</dcterms:created>
  <dcterms:modified xsi:type="dcterms:W3CDTF">2025-08-13T13:10:03Z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2052-12.1.21937.21937</vt:lpwstr>
  </property>
  <property fmtid="{D5CDD505-2E9C-101B-9397-08002B2CF9AE}" pid="3" name="ICV">
    <vt:lpwstr>291FBDBBA9DD3CF4BA8A9C6853728A93_43</vt:lpwstr>
  </property>
</Properties>
</file>