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06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200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3735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834533" y="260642"/>
            <a:ext cx="10706100" cy="1516063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4300"/>
              </a:lnSpc>
            </a:pPr>
            <a:r>
              <a:rPr lang="zh-CN" altLang="en-US" sz="4000" b="1" i="0" dirty="0">
                <a:solidFill>
                  <a:srgbClr val="0000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等线 Light"/>
                <a:ea typeface="等线 Light"/>
              </a:rPr>
              <a:t>八年级期中考试作图专题（7-8分）</a:t>
            </a:r>
          </a:p>
        </p:txBody>
      </p:sp>
      <p:sp>
        <p:nvSpPr>
          <p:cNvPr id="3" name="文本2"/>
          <p:cNvSpPr txBox="1"/>
          <p:nvPr/>
        </p:nvSpPr>
        <p:spPr>
          <a:xfrm>
            <a:off x="1460573" y="1776203"/>
            <a:ext cx="4514850" cy="4541834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400"/>
              </a:lnSpc>
              <a:buFont typeface="Arial"/>
              <a:buChar char="•"/>
            </a:pPr>
            <a:r>
              <a:rPr lang="zh-CN" altLang="en-US" sz="3200" b="1" i="0" dirty="0">
                <a:solidFill>
                  <a:srgbClr val="0000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等线"/>
                <a:ea typeface="等线"/>
              </a:rPr>
              <a:t>小孔成像</a:t>
            </a:r>
          </a:p>
          <a:p>
            <a:pPr marL="0" algn="l">
              <a:lnSpc>
                <a:spcPts val="3400"/>
              </a:lnSpc>
              <a:buFont typeface="Arial"/>
              <a:buChar char="•"/>
            </a:pPr>
            <a:r>
              <a:rPr lang="zh-CN" altLang="en-US" sz="3200" b="1" i="0" dirty="0">
                <a:solidFill>
                  <a:srgbClr val="FF00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等线"/>
                <a:ea typeface="等线"/>
              </a:rPr>
              <a:t>光的反射</a:t>
            </a:r>
          </a:p>
          <a:p>
            <a:pPr marL="0" algn="l">
              <a:lnSpc>
                <a:spcPts val="3400"/>
              </a:lnSpc>
              <a:buFont typeface="Arial"/>
              <a:buChar char="•"/>
            </a:pPr>
            <a:r>
              <a:rPr lang="zh-CN" altLang="en-US" sz="3200" b="1" i="0" dirty="0">
                <a:solidFill>
                  <a:srgbClr val="FF00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等线"/>
                <a:ea typeface="等线"/>
              </a:rPr>
              <a:t>光的折射</a:t>
            </a:r>
          </a:p>
          <a:p>
            <a:pPr marL="0" algn="l">
              <a:lnSpc>
                <a:spcPts val="3400"/>
              </a:lnSpc>
              <a:buFont typeface="Arial"/>
              <a:buChar char="•"/>
            </a:pPr>
            <a:r>
              <a:rPr lang="zh-CN" altLang="en-US" sz="3200" b="1" i="0" dirty="0">
                <a:solidFill>
                  <a:srgbClr val="FF00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等线"/>
                <a:ea typeface="等线"/>
              </a:rPr>
              <a:t>平面镜成像</a:t>
            </a:r>
          </a:p>
          <a:p>
            <a:pPr marL="0" algn="l">
              <a:lnSpc>
                <a:spcPts val="3400"/>
              </a:lnSpc>
              <a:buFont typeface="Arial"/>
              <a:buChar char="•"/>
            </a:pPr>
            <a:r>
              <a:rPr lang="zh-CN" altLang="en-US" sz="3200" b="1" i="0" dirty="0">
                <a:solidFill>
                  <a:srgbClr val="FF00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等线"/>
                <a:ea typeface="等线"/>
              </a:rPr>
              <a:t>透镜的三条光线</a:t>
            </a:r>
          </a:p>
          <a:p>
            <a:pPr marL="0" algn="l">
              <a:lnSpc>
                <a:spcPts val="3400"/>
              </a:lnSpc>
              <a:buFont typeface="Arial"/>
              <a:buChar char="•"/>
            </a:pPr>
            <a:r>
              <a:rPr lang="zh-CN" altLang="en-US" sz="3200" b="1" i="0" dirty="0">
                <a:solidFill>
                  <a:srgbClr val="0000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等线"/>
                <a:ea typeface="等线"/>
              </a:rPr>
              <a:t>综合型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411975" y="214103"/>
            <a:ext cx="3818878" cy="710918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4000"/>
              </a:lnSpc>
            </a:pPr>
            <a:r>
              <a:rPr lang="zh-CN" altLang="en-US" sz="3399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1.光的反射作图：</a:t>
            </a:r>
          </a:p>
        </p:txBody>
      </p:sp>
      <p:sp>
        <p:nvSpPr>
          <p:cNvPr id="3" name="文本2"/>
          <p:cNvSpPr txBox="1"/>
          <p:nvPr/>
        </p:nvSpPr>
        <p:spPr>
          <a:xfrm>
            <a:off x="3376222" y="968721"/>
            <a:ext cx="8307781" cy="721825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4100"/>
              </a:lnSpc>
            </a:pPr>
            <a:r>
              <a:rPr lang="zh-CN" altLang="en-US" sz="2999" b="0" i="0" dirty="0">
                <a:solidFill>
                  <a:srgbClr val="0000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微软雅黑"/>
                <a:ea typeface="微软雅黑"/>
              </a:rPr>
              <a:t>先画</a:t>
            </a:r>
            <a:r>
              <a:rPr lang="zh-CN" altLang="en-US" sz="2999" b="0" i="0" dirty="0">
                <a:solidFill>
                  <a:srgbClr val="FF00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微软雅黑"/>
                <a:ea typeface="微软雅黑"/>
              </a:rPr>
              <a:t>法线；再根据反射角等于入射角。</a:t>
            </a:r>
          </a:p>
        </p:txBody>
      </p:sp>
      <p:pic>
        <p:nvPicPr>
          <p:cNvPr id="4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130" y="2183006"/>
            <a:ext cx="3721522" cy="2397890"/>
          </a:xfrm>
          <a:prstGeom prst="rect">
            <a:avLst/>
          </a:prstGeom>
        </p:spPr>
      </p:pic>
      <p:pic>
        <p:nvPicPr>
          <p:cNvPr id="5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48" r="10971" b="11881"/>
          <a:stretch>
            <a:fillRect/>
          </a:stretch>
        </p:blipFill>
        <p:spPr>
          <a:xfrm>
            <a:off x="489004" y="2085775"/>
            <a:ext cx="3665302" cy="2397455"/>
          </a:xfrm>
          <a:prstGeom prst="rect">
            <a:avLst/>
          </a:prstGeom>
        </p:spPr>
      </p:pic>
      <p:pic>
        <p:nvPicPr>
          <p:cNvPr id="6" name="图片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5751" y="1916906"/>
            <a:ext cx="2778500" cy="2663523"/>
          </a:xfrm>
          <a:prstGeom prst="rect">
            <a:avLst/>
          </a:prstGeom>
        </p:spPr>
      </p:pic>
      <p:sp>
        <p:nvSpPr>
          <p:cNvPr id="7" name="文本3"/>
          <p:cNvSpPr txBox="1"/>
          <p:nvPr/>
        </p:nvSpPr>
        <p:spPr>
          <a:xfrm>
            <a:off x="786584" y="983247"/>
            <a:ext cx="2699925" cy="693356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2999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（1）画光线：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0874" y="852828"/>
            <a:ext cx="3785401" cy="1593853"/>
          </a:xfrm>
          <a:prstGeom prst="rect">
            <a:avLst/>
          </a:prstGeom>
        </p:spPr>
      </p:pic>
      <p:pic>
        <p:nvPicPr>
          <p:cNvPr id="3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1778" y="929221"/>
            <a:ext cx="2163237" cy="1875529"/>
          </a:xfrm>
          <a:prstGeom prst="rect">
            <a:avLst/>
          </a:prstGeom>
        </p:spPr>
      </p:pic>
      <p:pic>
        <p:nvPicPr>
          <p:cNvPr id="4" name="图片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4724" y="3524469"/>
            <a:ext cx="3036645" cy="2190767"/>
          </a:xfrm>
          <a:prstGeom prst="rect">
            <a:avLst/>
          </a:prstGeom>
        </p:spPr>
      </p:pic>
      <p:grpSp>
        <p:nvGrpSpPr>
          <p:cNvPr id="5" name="组合1"/>
          <p:cNvGrpSpPr/>
          <p:nvPr/>
        </p:nvGrpSpPr>
        <p:grpSpPr>
          <a:xfrm>
            <a:off x="1749128" y="471340"/>
            <a:ext cx="1429924" cy="2451638"/>
            <a:chOff x="0" y="0"/>
            <a:chExt cx="1429924" cy="2451638"/>
          </a:xfrm>
        </p:grpSpPr>
        <p:sp>
          <p:nvSpPr>
            <p:cNvPr id="6" name="形状1"/>
            <p:cNvSpPr txBox="1"/>
            <p:nvPr/>
          </p:nvSpPr>
          <p:spPr>
            <a:xfrm>
              <a:off x="921921" y="861386"/>
              <a:ext cx="381003" cy="397563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  <a:endParaRPr/>
            </a:p>
          </p:txBody>
        </p:sp>
        <p:sp>
          <p:nvSpPr>
            <p:cNvPr id="7" name="形状2"/>
            <p:cNvSpPr txBox="1"/>
            <p:nvPr/>
          </p:nvSpPr>
          <p:spPr>
            <a:xfrm rot="19800000">
              <a:off x="1056859" y="726104"/>
              <a:ext cx="373065" cy="6971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>
              <a:solidFill>
                <a:srgbClr val="FFFFFF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  <a:endParaRPr/>
            </a:p>
          </p:txBody>
        </p:sp>
        <p:sp>
          <p:nvSpPr>
            <p:cNvPr id="8" name="形状3"/>
            <p:cNvSpPr txBox="1"/>
            <p:nvPr/>
          </p:nvSpPr>
          <p:spPr>
            <a:xfrm>
              <a:off x="1160047" y="1060168"/>
              <a:ext cx="9525" cy="1391470"/>
            </a:xfrm>
            <a:prstGeom prst="line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  <a:endParaRPr/>
            </a:p>
          </p:txBody>
        </p:sp>
        <p:sp>
          <p:nvSpPr>
            <p:cNvPr id="9" name="形状4"/>
            <p:cNvSpPr txBox="1"/>
            <p:nvPr/>
          </p:nvSpPr>
          <p:spPr>
            <a:xfrm rot="7200000">
              <a:off x="572668" y="0"/>
              <a:ext cx="9525" cy="1391470"/>
            </a:xfrm>
            <a:prstGeom prst="line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  <a:endParaRPr/>
            </a:p>
          </p:txBody>
        </p:sp>
        <p:sp>
          <p:nvSpPr>
            <p:cNvPr id="10" name="形状5"/>
            <p:cNvSpPr txBox="1"/>
            <p:nvPr/>
          </p:nvSpPr>
          <p:spPr>
            <a:xfrm>
              <a:off x="334542" y="546649"/>
              <a:ext cx="392909" cy="249857"/>
            </a:xfrm>
            <a:prstGeom prst="line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>
                  <a:alpha val="100000"/>
                </a:srgbClr>
              </a:solidFill>
              <a:prstDash val="solid"/>
              <a:headEnd type="none" w="med" len="med"/>
              <a:tailEnd type="triangle" w="med" len="med"/>
            </a:ln>
          </p:spPr>
          <p:txBody>
            <a:bodyPr anchor="ctr"/>
            <a:lstStyle/>
            <a:p>
              <a:pPr marL="0" algn="ctr"/>
              <a:endParaRPr/>
            </a:p>
          </p:txBody>
        </p:sp>
        <p:sp>
          <p:nvSpPr>
            <p:cNvPr id="11" name="形状6"/>
            <p:cNvSpPr txBox="1"/>
            <p:nvPr/>
          </p:nvSpPr>
          <p:spPr>
            <a:xfrm>
              <a:off x="1160047" y="1408035"/>
              <a:ext cx="9525" cy="662605"/>
            </a:xfrm>
            <a:prstGeom prst="line">
              <a:avLst/>
            </a:prstGeom>
            <a:solidFill>
              <a:srgbClr val="FFFFFF">
                <a:alpha val="0"/>
              </a:srgbClr>
            </a:solidFill>
            <a:ln w="9525">
              <a:solidFill>
                <a:srgbClr val="000000">
                  <a:alpha val="100000"/>
                </a:srgbClr>
              </a:solidFill>
              <a:prstDash val="solid"/>
              <a:headEnd type="none" w="med" len="med"/>
              <a:tailEnd type="triangle" w="med" len="med"/>
            </a:ln>
          </p:spPr>
          <p:txBody>
            <a:bodyPr anchor="ctr"/>
            <a:lstStyle/>
            <a:p>
              <a:pPr marL="0" algn="ctr"/>
              <a:endParaRPr/>
            </a:p>
          </p:txBody>
        </p:sp>
        <p:sp>
          <p:nvSpPr>
            <p:cNvPr id="12" name="文本3"/>
            <p:cNvSpPr txBox="1"/>
            <p:nvPr/>
          </p:nvSpPr>
          <p:spPr>
            <a:xfrm>
              <a:off x="0" y="850508"/>
              <a:ext cx="1026589" cy="651563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2800"/>
                </a:lnSpc>
              </a:pPr>
              <a:r>
                <a:rPr lang="zh-CN" altLang="en-US" sz="2400" b="1" i="0" dirty="0">
                  <a:solidFill>
                    <a:srgbClr val="000000">
                      <a:alpha val="100000"/>
                    </a:srgbClr>
                  </a:solidFill>
                  <a:effectLst>
                    <a:outerShdw blurRad="38100" dist="38100" dir="2700000" rotWithShape="0">
                      <a:srgbClr val="C0C0C0">
                        <a:alpha val="100000"/>
                      </a:srgbClr>
                    </a:outerShdw>
                  </a:effectLst>
                  <a:latin typeface="等线"/>
                  <a:ea typeface="等线"/>
                </a:rPr>
                <a:t>120º</a:t>
              </a:r>
            </a:p>
          </p:txBody>
        </p:sp>
      </p:grpSp>
      <p:pic>
        <p:nvPicPr>
          <p:cNvPr id="13" name="图片4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227" y="3252911"/>
            <a:ext cx="2447925" cy="2562225"/>
          </a:xfrm>
          <a:prstGeom prst="rect">
            <a:avLst/>
          </a:prstGeom>
        </p:spPr>
      </p:pic>
      <p:pic>
        <p:nvPicPr>
          <p:cNvPr id="14" name="图片5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0874" y="3524682"/>
            <a:ext cx="3800475" cy="2019300"/>
          </a:xfrm>
          <a:prstGeom prst="rect">
            <a:avLst/>
          </a:prstGeom>
        </p:spPr>
      </p:pic>
      <p:sp>
        <p:nvSpPr>
          <p:cNvPr id="15" name="文本1"/>
          <p:cNvSpPr txBox="1"/>
          <p:nvPr/>
        </p:nvSpPr>
        <p:spPr>
          <a:xfrm>
            <a:off x="371" y="18793"/>
            <a:ext cx="5747925" cy="693356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3000" b="0" i="0" dirty="0">
                <a:solidFill>
                  <a:srgbClr val="FF0000">
                    <a:alpha val="100000"/>
                  </a:srgbClr>
                </a:solidFill>
                <a:latin typeface="微软雅黑"/>
                <a:ea typeface="微软雅黑"/>
              </a:rPr>
              <a:t>（2）由入、反射光线画平面镜：</a:t>
            </a:r>
          </a:p>
        </p:txBody>
      </p:sp>
      <p:sp>
        <p:nvSpPr>
          <p:cNvPr id="16" name="文本2"/>
          <p:cNvSpPr txBox="1"/>
          <p:nvPr/>
        </p:nvSpPr>
        <p:spPr>
          <a:xfrm>
            <a:off x="5566772" y="4420"/>
            <a:ext cx="5964631" cy="721825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4100"/>
              </a:lnSpc>
            </a:pPr>
            <a:r>
              <a:rPr lang="zh-CN" altLang="en-US" sz="2999" b="0" i="0" dirty="0">
                <a:solidFill>
                  <a:srgbClr val="3B00FF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微软雅黑"/>
                <a:ea typeface="微软雅黑"/>
              </a:rPr>
              <a:t>先画法线；再作垂线画平面镜。</a:t>
            </a:r>
          </a:p>
        </p:txBody>
      </p:sp>
      <p:pic>
        <p:nvPicPr>
          <p:cNvPr id="17" name="图片6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53555"/>
          <a:stretch>
            <a:fillRect/>
          </a:stretch>
        </p:blipFill>
        <p:spPr>
          <a:xfrm>
            <a:off x="2392137" y="3061183"/>
            <a:ext cx="2482653" cy="263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13" grpId="0" animBg="1"/>
      <p:bldP spid="14" grpId="0" animBg="1"/>
      <p:bldP spid="16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198" t="66824" r="7256" b="17772"/>
          <a:stretch>
            <a:fillRect/>
          </a:stretch>
        </p:blipFill>
        <p:spPr>
          <a:xfrm>
            <a:off x="7047005" y="3092939"/>
            <a:ext cx="3714776" cy="2266960"/>
          </a:xfrm>
          <a:prstGeom prst="rect">
            <a:avLst/>
          </a:prstGeom>
        </p:spPr>
      </p:pic>
      <p:pic>
        <p:nvPicPr>
          <p:cNvPr id="3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875" b="31250"/>
          <a:stretch>
            <a:fillRect/>
          </a:stretch>
        </p:blipFill>
        <p:spPr>
          <a:xfrm>
            <a:off x="1548975" y="807006"/>
            <a:ext cx="4000528" cy="1845768"/>
          </a:xfrm>
          <a:prstGeom prst="rect">
            <a:avLst/>
          </a:prstGeom>
        </p:spPr>
      </p:pic>
      <p:pic>
        <p:nvPicPr>
          <p:cNvPr id="4" name="图片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9480" y="2652476"/>
            <a:ext cx="4933950" cy="2952750"/>
          </a:xfrm>
          <a:prstGeom prst="rect">
            <a:avLst/>
          </a:prstGeom>
        </p:spPr>
      </p:pic>
      <p:sp>
        <p:nvSpPr>
          <p:cNvPr id="5" name="文本1"/>
          <p:cNvSpPr txBox="1"/>
          <p:nvPr/>
        </p:nvSpPr>
        <p:spPr>
          <a:xfrm>
            <a:off x="520484" y="99803"/>
            <a:ext cx="4290603" cy="693356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2999" b="0" i="0" dirty="0">
                <a:solidFill>
                  <a:srgbClr val="FF0000">
                    <a:alpha val="100000"/>
                  </a:srgbClr>
                </a:solidFill>
                <a:latin typeface="微软雅黑"/>
                <a:ea typeface="微软雅黑"/>
              </a:rPr>
              <a:t>（3）画光线经过某点：</a:t>
            </a:r>
          </a:p>
        </p:txBody>
      </p:sp>
      <p:pic>
        <p:nvPicPr>
          <p:cNvPr id="6" name="图片4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2618" y="975293"/>
            <a:ext cx="2811532" cy="1777136"/>
          </a:xfrm>
          <a:prstGeom prst="rect">
            <a:avLst/>
          </a:prstGeom>
        </p:spPr>
      </p:pic>
      <p:sp>
        <p:nvSpPr>
          <p:cNvPr id="7" name="文本2"/>
          <p:cNvSpPr txBox="1"/>
          <p:nvPr/>
        </p:nvSpPr>
        <p:spPr>
          <a:xfrm>
            <a:off x="4576020" y="85696"/>
            <a:ext cx="6412306" cy="721825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4100"/>
              </a:lnSpc>
            </a:pPr>
            <a:r>
              <a:rPr lang="zh-CN" altLang="en-US" sz="2999" b="0" i="0" dirty="0">
                <a:solidFill>
                  <a:srgbClr val="0000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微软雅黑"/>
                <a:ea typeface="微软雅黑"/>
              </a:rPr>
              <a:t>先画</a:t>
            </a:r>
            <a:r>
              <a:rPr lang="zh-CN" altLang="en-US" sz="2999" b="0" i="0" dirty="0">
                <a:solidFill>
                  <a:srgbClr val="FF00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微软雅黑"/>
                <a:ea typeface="微软雅黑"/>
              </a:rPr>
              <a:t>对称点；再连</a:t>
            </a:r>
            <a:r>
              <a:rPr lang="zh-CN" altLang="en-US" sz="2999" b="0" i="0" dirty="0">
                <a:solidFill>
                  <a:srgbClr val="3B00FF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微软雅黑"/>
                <a:ea typeface="微软雅黑"/>
              </a:rPr>
              <a:t>对称点</a:t>
            </a:r>
            <a:r>
              <a:rPr lang="zh-CN" altLang="en-US" sz="2999" b="0" i="0" dirty="0">
                <a:solidFill>
                  <a:srgbClr val="FF00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微软雅黑"/>
                <a:ea typeface="微软雅黑"/>
              </a:rPr>
              <a:t>和</a:t>
            </a:r>
            <a:r>
              <a:rPr lang="zh-CN" altLang="en-US" sz="2999" b="0" i="0" dirty="0">
                <a:solidFill>
                  <a:srgbClr val="3B00FF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微软雅黑"/>
                <a:ea typeface="微软雅黑"/>
              </a:rPr>
              <a:t>经过点</a:t>
            </a:r>
            <a:r>
              <a:rPr lang="zh-CN" altLang="en-US" sz="2999" b="0" i="0" dirty="0">
                <a:solidFill>
                  <a:srgbClr val="FF00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微软雅黑"/>
                <a:ea typeface="微软雅黑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547430" y="287998"/>
            <a:ext cx="3228975" cy="783946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4600"/>
              </a:lnSpc>
            </a:pPr>
            <a:r>
              <a:rPr lang="zh-CN" altLang="en-US" sz="3399" b="0" i="0" dirty="0">
                <a:solidFill>
                  <a:srgbClr val="0000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微软雅黑"/>
                <a:ea typeface="微软雅黑"/>
              </a:rPr>
              <a:t>2.平面镜成像：</a:t>
            </a:r>
          </a:p>
        </p:txBody>
      </p:sp>
      <p:sp>
        <p:nvSpPr>
          <p:cNvPr id="3" name="文本2"/>
          <p:cNvSpPr txBox="1"/>
          <p:nvPr/>
        </p:nvSpPr>
        <p:spPr>
          <a:xfrm>
            <a:off x="3675021" y="259032"/>
            <a:ext cx="7772400" cy="772119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4500"/>
              </a:lnSpc>
            </a:pPr>
            <a:r>
              <a:rPr lang="zh-CN" altLang="en-US" sz="2999" b="0" i="0" dirty="0">
                <a:solidFill>
                  <a:srgbClr val="0000FF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微软雅黑"/>
                <a:ea typeface="微软雅黑"/>
              </a:rPr>
              <a:t>方法1：</a:t>
            </a:r>
            <a:r>
              <a:rPr lang="zh-CN" altLang="en-US" sz="2999" b="0" i="0" dirty="0">
                <a:solidFill>
                  <a:srgbClr val="FF00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微软雅黑"/>
                <a:ea typeface="微软雅黑"/>
              </a:rPr>
              <a:t>对称法：</a:t>
            </a:r>
          </a:p>
        </p:txBody>
      </p:sp>
      <p:sp>
        <p:nvSpPr>
          <p:cNvPr id="4" name="文本3"/>
          <p:cNvSpPr txBox="1"/>
          <p:nvPr/>
        </p:nvSpPr>
        <p:spPr>
          <a:xfrm>
            <a:off x="3434153" y="4406113"/>
            <a:ext cx="8535638" cy="772119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4500"/>
              </a:lnSpc>
            </a:pPr>
            <a:r>
              <a:rPr lang="zh-CN" altLang="en-US" sz="2999" b="0" i="0" dirty="0">
                <a:solidFill>
                  <a:srgbClr val="0000FF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微软雅黑"/>
                <a:ea typeface="微软雅黑"/>
              </a:rPr>
              <a:t>方法2：根据</a:t>
            </a:r>
            <a:r>
              <a:rPr lang="zh-CN" altLang="en-US" sz="2999" b="0" i="0" dirty="0">
                <a:solidFill>
                  <a:srgbClr val="FF00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微软雅黑"/>
                <a:ea typeface="微软雅黑"/>
              </a:rPr>
              <a:t>光的反射定律</a:t>
            </a:r>
            <a:r>
              <a:rPr lang="zh-CN" altLang="en-US" sz="2999" b="0" i="0" dirty="0">
                <a:solidFill>
                  <a:srgbClr val="0000FF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微软雅黑"/>
                <a:ea typeface="微软雅黑"/>
              </a:rPr>
              <a:t>作图</a:t>
            </a:r>
          </a:p>
        </p:txBody>
      </p:sp>
      <p:sp>
        <p:nvSpPr>
          <p:cNvPr id="5" name="文本4"/>
          <p:cNvSpPr txBox="1"/>
          <p:nvPr/>
        </p:nvSpPr>
        <p:spPr>
          <a:xfrm>
            <a:off x="6622504" y="259547"/>
            <a:ext cx="4381500" cy="77211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500"/>
              </a:lnSpc>
            </a:pPr>
            <a:r>
              <a:rPr lang="zh-CN" altLang="en-US" sz="2999" b="0" i="0" dirty="0">
                <a:solidFill>
                  <a:srgbClr val="0000FF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微软雅黑"/>
                <a:ea typeface="微软雅黑"/>
              </a:rPr>
              <a:t>作垂线、取相等，连虚线</a:t>
            </a:r>
          </a:p>
        </p:txBody>
      </p:sp>
      <p:pic>
        <p:nvPicPr>
          <p:cNvPr id="6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7" t="16793" r="4549" b="17843"/>
          <a:stretch>
            <a:fillRect/>
          </a:stretch>
        </p:blipFill>
        <p:spPr>
          <a:xfrm>
            <a:off x="1765049" y="1308745"/>
            <a:ext cx="8484287" cy="281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473183" y="155267"/>
            <a:ext cx="7760303" cy="794746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700"/>
              </a:lnSpc>
            </a:pPr>
            <a:r>
              <a:rPr lang="zh-CN" altLang="en-US" sz="3399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3.光的折射作图（</a:t>
            </a:r>
            <a:r>
              <a:rPr lang="zh-CN" altLang="en-US" sz="3399" b="0" i="0" dirty="0">
                <a:solidFill>
                  <a:srgbClr val="FF00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微软雅黑"/>
                <a:ea typeface="微软雅黑"/>
              </a:rPr>
              <a:t>空气中的角比较</a:t>
            </a:r>
            <a:r>
              <a:rPr lang="zh-CN" altLang="en-US" sz="3399" b="0" i="0" u="sng" dirty="0">
                <a:solidFill>
                  <a:srgbClr val="FF00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微软雅黑"/>
                <a:ea typeface="微软雅黑"/>
              </a:rPr>
              <a:t>大</a:t>
            </a:r>
            <a:r>
              <a:rPr lang="zh-CN" altLang="en-US" sz="3399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）</a:t>
            </a:r>
          </a:p>
        </p:txBody>
      </p:sp>
      <p:pic>
        <p:nvPicPr>
          <p:cNvPr id="3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916" y="1313066"/>
            <a:ext cx="3333773" cy="2025336"/>
          </a:xfrm>
          <a:prstGeom prst="rect">
            <a:avLst/>
          </a:prstGeom>
        </p:spPr>
      </p:pic>
      <p:pic>
        <p:nvPicPr>
          <p:cNvPr id="4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86" t="42514" r="46345" b="14970"/>
          <a:stretch>
            <a:fillRect/>
          </a:stretch>
        </p:blipFill>
        <p:spPr>
          <a:xfrm>
            <a:off x="4609269" y="2003032"/>
            <a:ext cx="2952771" cy="1619261"/>
          </a:xfrm>
          <a:prstGeom prst="rect">
            <a:avLst/>
          </a:prstGeom>
        </p:spPr>
      </p:pic>
      <p:pic>
        <p:nvPicPr>
          <p:cNvPr id="5" name="图片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971"/>
          <a:stretch>
            <a:fillRect/>
          </a:stretch>
        </p:blipFill>
        <p:spPr>
          <a:xfrm>
            <a:off x="604916" y="4215877"/>
            <a:ext cx="3054703" cy="2174487"/>
          </a:xfrm>
          <a:prstGeom prst="rect">
            <a:avLst/>
          </a:prstGeom>
        </p:spPr>
      </p:pic>
      <p:pic>
        <p:nvPicPr>
          <p:cNvPr id="6" name="图片4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0200" y="3791993"/>
            <a:ext cx="3419475" cy="2619375"/>
          </a:xfrm>
          <a:prstGeom prst="rect">
            <a:avLst/>
          </a:prstGeom>
        </p:spPr>
      </p:pic>
      <p:pic>
        <p:nvPicPr>
          <p:cNvPr id="7" name="图片5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0868" y="3846611"/>
            <a:ext cx="3124200" cy="2590800"/>
          </a:xfrm>
          <a:prstGeom prst="rect">
            <a:avLst/>
          </a:prstGeom>
        </p:spPr>
      </p:pic>
      <p:pic>
        <p:nvPicPr>
          <p:cNvPr id="8" name="图片6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2621" y="1403449"/>
            <a:ext cx="2952750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586" t="35232" r="10689" b="41772"/>
          <a:stretch>
            <a:fillRect/>
          </a:stretch>
        </p:blipFill>
        <p:spPr>
          <a:xfrm>
            <a:off x="4411352" y="2419807"/>
            <a:ext cx="3385061" cy="2000264"/>
          </a:xfrm>
          <a:prstGeom prst="rect">
            <a:avLst/>
          </a:prstGeom>
        </p:spPr>
      </p:pic>
      <p:pic>
        <p:nvPicPr>
          <p:cNvPr id="3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57" y="1479627"/>
            <a:ext cx="3571875" cy="3657600"/>
          </a:xfrm>
          <a:prstGeom prst="rect">
            <a:avLst/>
          </a:prstGeom>
        </p:spPr>
      </p:pic>
      <p:pic>
        <p:nvPicPr>
          <p:cNvPr id="4" name="图片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2076" y="1946352"/>
            <a:ext cx="3276600" cy="3190875"/>
          </a:xfrm>
          <a:prstGeom prst="rect">
            <a:avLst/>
          </a:prstGeom>
        </p:spPr>
      </p:pic>
      <p:sp>
        <p:nvSpPr>
          <p:cNvPr id="5" name="文本1"/>
          <p:cNvSpPr txBox="1"/>
          <p:nvPr/>
        </p:nvSpPr>
        <p:spPr>
          <a:xfrm>
            <a:off x="661254" y="592465"/>
            <a:ext cx="8035928" cy="794746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700"/>
              </a:lnSpc>
            </a:pPr>
            <a:r>
              <a:rPr lang="zh-CN" altLang="en-US" sz="3399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3.光的折射作图（</a:t>
            </a:r>
            <a:r>
              <a:rPr lang="zh-CN" altLang="en-US" sz="3399" b="0" i="0" dirty="0">
                <a:solidFill>
                  <a:srgbClr val="FF00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微软雅黑"/>
                <a:ea typeface="微软雅黑"/>
              </a:rPr>
              <a:t>空气中的角比较</a:t>
            </a:r>
            <a:r>
              <a:rPr lang="zh-CN" altLang="en-US" sz="3399" b="0" i="0" u="sng" dirty="0">
                <a:solidFill>
                  <a:srgbClr val="FF00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微软雅黑"/>
                <a:ea typeface="微软雅黑"/>
              </a:rPr>
              <a:t>大</a:t>
            </a:r>
            <a:r>
              <a:rPr lang="zh-CN" altLang="en-US" sz="3399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282" r="4140"/>
          <a:stretch>
            <a:fillRect/>
          </a:stretch>
        </p:blipFill>
        <p:spPr>
          <a:xfrm>
            <a:off x="1467164" y="1328299"/>
            <a:ext cx="9259062" cy="4983394"/>
          </a:xfrm>
          <a:prstGeom prst="rect">
            <a:avLst/>
          </a:prstGeom>
        </p:spPr>
      </p:pic>
      <p:sp>
        <p:nvSpPr>
          <p:cNvPr id="3" name="文本1"/>
          <p:cNvSpPr txBox="1"/>
          <p:nvPr/>
        </p:nvSpPr>
        <p:spPr>
          <a:xfrm>
            <a:off x="523151" y="440226"/>
            <a:ext cx="8512178" cy="794746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700"/>
              </a:lnSpc>
            </a:pPr>
            <a:r>
              <a:rPr lang="zh-CN" altLang="en-US" sz="3399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3.光的折射作图（</a:t>
            </a:r>
            <a:r>
              <a:rPr lang="zh-CN" altLang="en-US" sz="3399" b="0" i="0" dirty="0">
                <a:solidFill>
                  <a:srgbClr val="FF00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微软雅黑"/>
                <a:ea typeface="微软雅黑"/>
              </a:rPr>
              <a:t>空气中的角比较</a:t>
            </a:r>
            <a:r>
              <a:rPr lang="zh-CN" altLang="en-US" sz="3399" b="0" i="0" u="sng" dirty="0">
                <a:solidFill>
                  <a:srgbClr val="FF00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微软雅黑"/>
                <a:ea typeface="微软雅黑"/>
              </a:rPr>
              <a:t>大</a:t>
            </a:r>
            <a:r>
              <a:rPr lang="zh-CN" altLang="en-US" sz="3399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105" y="-257"/>
            <a:ext cx="6819900" cy="818826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4900"/>
              </a:lnSpc>
            </a:pPr>
            <a:r>
              <a:rPr lang="zh-CN" altLang="en-US" sz="3599" b="0" i="0" dirty="0">
                <a:solidFill>
                  <a:srgbClr val="0000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微软雅黑"/>
                <a:ea typeface="微软雅黑"/>
              </a:rPr>
              <a:t>4.透镜的三条特殊光线</a:t>
            </a:r>
          </a:p>
        </p:txBody>
      </p:sp>
      <p:sp>
        <p:nvSpPr>
          <p:cNvPr id="3" name="文本2"/>
          <p:cNvSpPr txBox="1"/>
          <p:nvPr/>
        </p:nvSpPr>
        <p:spPr>
          <a:xfrm>
            <a:off x="769659" y="351427"/>
            <a:ext cx="10210794" cy="1333500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4100"/>
              </a:lnSpc>
            </a:pPr>
            <a:r>
              <a:rPr lang="zh-CN" altLang="en-US" sz="2999" b="0" i="0" dirty="0">
                <a:solidFill>
                  <a:srgbClr val="0000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微软雅黑"/>
                <a:ea typeface="微软雅黑"/>
              </a:rPr>
              <a:t>要点：</a:t>
            </a:r>
            <a:r>
              <a:rPr lang="zh-CN" altLang="en-US" sz="2999" b="0" i="0" dirty="0">
                <a:solidFill>
                  <a:srgbClr val="FF00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微软雅黑"/>
                <a:ea typeface="微软雅黑"/>
              </a:rPr>
              <a:t>一边平行，另一边“</a:t>
            </a:r>
            <a:r>
              <a:rPr lang="zh-CN" altLang="en-US" sz="2999" b="0" i="0" u="sng" dirty="0">
                <a:solidFill>
                  <a:srgbClr val="FF00FF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微软雅黑"/>
                <a:ea typeface="微软雅黑"/>
              </a:rPr>
              <a:t>经过</a:t>
            </a:r>
            <a:r>
              <a:rPr lang="zh-CN" altLang="en-US" sz="2999" b="0" i="0" dirty="0">
                <a:solidFill>
                  <a:srgbClr val="FF00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微软雅黑"/>
                <a:ea typeface="微软雅黑"/>
              </a:rPr>
              <a:t>” 焦点</a:t>
            </a:r>
          </a:p>
        </p:txBody>
      </p:sp>
      <p:sp>
        <p:nvSpPr>
          <p:cNvPr id="4" name="文本3"/>
          <p:cNvSpPr txBox="1"/>
          <p:nvPr/>
        </p:nvSpPr>
        <p:spPr>
          <a:xfrm>
            <a:off x="770344" y="1125893"/>
            <a:ext cx="11422228" cy="1353737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4500"/>
              </a:lnSpc>
            </a:pPr>
            <a:r>
              <a:rPr lang="zh-CN" altLang="en-US" sz="2999" b="0" i="0" dirty="0">
                <a:solidFill>
                  <a:srgbClr val="FF00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微软雅黑"/>
                <a:ea typeface="微软雅黑"/>
              </a:rPr>
              <a:t>          光线通过透镜时</a:t>
            </a:r>
            <a:r>
              <a:rPr lang="zh-CN" altLang="en-US" sz="2999" b="0" i="0" dirty="0">
                <a:solidFill>
                  <a:srgbClr val="0000FF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微软雅黑"/>
                <a:ea typeface="微软雅黑"/>
              </a:rPr>
              <a:t>向厚的方向偏折</a:t>
            </a:r>
          </a:p>
          <a:p>
            <a:pPr marL="0" algn="l">
              <a:lnSpc>
                <a:spcPts val="4500"/>
              </a:lnSpc>
            </a:pPr>
            <a:r>
              <a:rPr lang="zh-CN" altLang="en-US" sz="2999" b="0" i="0" dirty="0">
                <a:solidFill>
                  <a:srgbClr val="0000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微软雅黑"/>
                <a:ea typeface="微软雅黑"/>
              </a:rPr>
              <a:t>注意：作图时注意</a:t>
            </a:r>
            <a:r>
              <a:rPr lang="zh-CN" altLang="en-US" sz="2999" b="0" i="0" dirty="0">
                <a:solidFill>
                  <a:srgbClr val="FF00FF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微软雅黑"/>
                <a:ea typeface="微软雅黑"/>
              </a:rPr>
              <a:t>延长线</a:t>
            </a:r>
            <a:r>
              <a:rPr lang="zh-CN" altLang="en-US" sz="2999" b="0" i="0" dirty="0">
                <a:solidFill>
                  <a:srgbClr val="0000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微软雅黑"/>
                <a:ea typeface="微软雅黑"/>
              </a:rPr>
              <a:t>和</a:t>
            </a:r>
            <a:r>
              <a:rPr lang="zh-CN" altLang="en-US" sz="2999" b="0" i="0" dirty="0">
                <a:solidFill>
                  <a:srgbClr val="FF00FF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微软雅黑"/>
                <a:ea typeface="微软雅黑"/>
              </a:rPr>
              <a:t>反向延长线</a:t>
            </a:r>
            <a:r>
              <a:rPr lang="zh-CN" altLang="en-US" sz="2999" b="0" i="0" dirty="0">
                <a:solidFill>
                  <a:srgbClr val="0000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微软雅黑"/>
                <a:ea typeface="微软雅黑"/>
              </a:rPr>
              <a:t>要用</a:t>
            </a:r>
            <a:r>
              <a:rPr lang="zh-CN" altLang="en-US" sz="2999" b="0" i="0" dirty="0">
                <a:solidFill>
                  <a:srgbClr val="FF00FF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微软雅黑"/>
                <a:ea typeface="微软雅黑"/>
              </a:rPr>
              <a:t>虚线</a:t>
            </a:r>
            <a:r>
              <a:rPr lang="zh-CN" altLang="en-US" sz="2999" b="0" i="0" dirty="0">
                <a:solidFill>
                  <a:srgbClr val="0000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微软雅黑"/>
                <a:ea typeface="微软雅黑"/>
              </a:rPr>
              <a:t>画出。</a:t>
            </a:r>
          </a:p>
        </p:txBody>
      </p:sp>
      <p:pic>
        <p:nvPicPr>
          <p:cNvPr id="5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882"/>
          <a:stretch>
            <a:fillRect/>
          </a:stretch>
        </p:blipFill>
        <p:spPr>
          <a:xfrm>
            <a:off x="4165073" y="2479234"/>
            <a:ext cx="7109208" cy="3417284"/>
          </a:xfrm>
          <a:prstGeom prst="rect">
            <a:avLst/>
          </a:prstGeom>
        </p:spPr>
      </p:pic>
      <p:sp>
        <p:nvSpPr>
          <p:cNvPr id="6" name="文本4"/>
          <p:cNvSpPr txBox="1"/>
          <p:nvPr/>
        </p:nvSpPr>
        <p:spPr>
          <a:xfrm>
            <a:off x="418662" y="2479138"/>
            <a:ext cx="3685349" cy="693356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2999" b="0" i="0" dirty="0">
                <a:solidFill>
                  <a:srgbClr val="FF0000">
                    <a:alpha val="100000"/>
                  </a:srgbClr>
                </a:solidFill>
                <a:latin typeface="微软雅黑"/>
                <a:ea typeface="微软雅黑"/>
              </a:rPr>
              <a:t>（1）类型1：画光线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863" y="1003609"/>
            <a:ext cx="7810500" cy="4762500"/>
          </a:xfrm>
          <a:prstGeom prst="rect">
            <a:avLst/>
          </a:prstGeom>
        </p:spPr>
      </p:pic>
      <p:sp>
        <p:nvSpPr>
          <p:cNvPr id="3" name="文本1"/>
          <p:cNvSpPr txBox="1"/>
          <p:nvPr/>
        </p:nvSpPr>
        <p:spPr>
          <a:xfrm>
            <a:off x="3936987" y="270996"/>
            <a:ext cx="7405497" cy="772119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4500"/>
              </a:lnSpc>
            </a:pPr>
            <a:r>
              <a:rPr lang="zh-CN" altLang="en-US" sz="3000" b="0" i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光线通过透镜时</a:t>
            </a:r>
            <a:r>
              <a:rPr lang="zh-CN" altLang="en-US" sz="3000" b="0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“</a:t>
            </a:r>
            <a:r>
              <a:rPr lang="zh-CN" altLang="en-US" sz="3000" b="0" i="0" dirty="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哪边厚往哪边偏</a:t>
            </a:r>
            <a:r>
              <a:rPr lang="zh-CN" altLang="en-US" sz="3000" b="0" i="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</a:rPr>
              <a:t>”</a:t>
            </a:r>
          </a:p>
        </p:txBody>
      </p:sp>
      <p:sp>
        <p:nvSpPr>
          <p:cNvPr id="4" name="文本2"/>
          <p:cNvSpPr txBox="1"/>
          <p:nvPr/>
        </p:nvSpPr>
        <p:spPr>
          <a:xfrm>
            <a:off x="252089" y="310248"/>
            <a:ext cx="3685349" cy="693356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2999" b="0" i="0" dirty="0">
                <a:solidFill>
                  <a:srgbClr val="FF0000">
                    <a:alpha val="100000"/>
                  </a:srgbClr>
                </a:solidFill>
                <a:latin typeface="微软雅黑"/>
                <a:ea typeface="微软雅黑"/>
              </a:rPr>
              <a:t>（2）类型2：填透镜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834390" y="315595"/>
            <a:ext cx="10706100" cy="1516063"/>
          </a:xfrm>
          <a:prstGeom prst="rect">
            <a:avLst/>
          </a:prstGeom>
          <a:noFill/>
        </p:spPr>
        <p:txBody>
          <a:bodyPr anchor="ctr"/>
          <a:lstStyle/>
          <a:p>
            <a:pPr marL="0" algn="l">
              <a:lnSpc>
                <a:spcPts val="4600"/>
              </a:lnSpc>
            </a:pPr>
            <a:r>
              <a:rPr lang="zh-CN" altLang="en-US" sz="4266" b="1" i="0" dirty="0">
                <a:solidFill>
                  <a:srgbClr val="000000">
                    <a:alpha val="100000"/>
                  </a:srgbClr>
                </a:solidFill>
                <a:latin typeface="等线 Light"/>
                <a:ea typeface="等线 Light"/>
              </a:rPr>
              <a:t>光线通过某光学元件传播方向发生了改变，如图所示，有几种？</a:t>
            </a:r>
          </a:p>
        </p:txBody>
      </p:sp>
      <p:pic>
        <p:nvPicPr>
          <p:cNvPr id="3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404" y="1766234"/>
            <a:ext cx="2572592" cy="1777720"/>
          </a:xfrm>
          <a:prstGeom prst="rect">
            <a:avLst/>
          </a:prstGeom>
        </p:spPr>
      </p:pic>
      <p:pic>
        <p:nvPicPr>
          <p:cNvPr id="4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8680" y="1267509"/>
            <a:ext cx="3020071" cy="1978181"/>
          </a:xfrm>
          <a:prstGeom prst="rect">
            <a:avLst/>
          </a:prstGeom>
        </p:spPr>
      </p:pic>
      <p:pic>
        <p:nvPicPr>
          <p:cNvPr id="5" name="图片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157" y="3583715"/>
            <a:ext cx="2772745" cy="2116193"/>
          </a:xfrm>
          <a:prstGeom prst="rect">
            <a:avLst/>
          </a:prstGeom>
        </p:spPr>
      </p:pic>
      <p:pic>
        <p:nvPicPr>
          <p:cNvPr id="6" name="图片4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2637" y="3285220"/>
            <a:ext cx="3168657" cy="2713000"/>
          </a:xfrm>
          <a:prstGeom prst="rect">
            <a:avLst/>
          </a:prstGeom>
        </p:spPr>
      </p:pic>
      <p:grpSp>
        <p:nvGrpSpPr>
          <p:cNvPr id="7" name="组合1"/>
          <p:cNvGrpSpPr/>
          <p:nvPr/>
        </p:nvGrpSpPr>
        <p:grpSpPr>
          <a:xfrm>
            <a:off x="6045251" y="3374574"/>
            <a:ext cx="2881919" cy="2292352"/>
            <a:chOff x="0" y="0"/>
            <a:chExt cx="2881919" cy="2292352"/>
          </a:xfrm>
        </p:grpSpPr>
        <p:pic>
          <p:nvPicPr>
            <p:cNvPr id="8" name="图片5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2881919" cy="2043294"/>
            </a:xfrm>
            <a:prstGeom prst="rect">
              <a:avLst/>
            </a:prstGeom>
          </p:spPr>
        </p:pic>
        <p:sp>
          <p:nvSpPr>
            <p:cNvPr id="9" name="形状1"/>
            <p:cNvSpPr txBox="1"/>
            <p:nvPr/>
          </p:nvSpPr>
          <p:spPr>
            <a:xfrm rot="10800000">
              <a:off x="1226982" y="424510"/>
              <a:ext cx="744738" cy="1867842"/>
            </a:xfrm>
            <a:prstGeom prst="triangle">
              <a:avLst/>
            </a:prstGeom>
            <a:solidFill>
              <a:srgbClr val="5B9BD5">
                <a:alpha val="100000"/>
              </a:srgbClr>
            </a:solidFill>
            <a:ln w="12700">
              <a:solidFill>
                <a:srgbClr val="41719C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  <a:endParaRPr/>
            </a:p>
          </p:txBody>
        </p:sp>
      </p:grpSp>
      <p:grpSp>
        <p:nvGrpSpPr>
          <p:cNvPr id="10" name="组合2"/>
          <p:cNvGrpSpPr/>
          <p:nvPr/>
        </p:nvGrpSpPr>
        <p:grpSpPr>
          <a:xfrm>
            <a:off x="8717137" y="3431753"/>
            <a:ext cx="3166799" cy="2419356"/>
            <a:chOff x="0" y="0"/>
            <a:chExt cx="3166799" cy="2419356"/>
          </a:xfrm>
        </p:grpSpPr>
        <p:pic>
          <p:nvPicPr>
            <p:cNvPr id="11" name="图片6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0" y="0"/>
              <a:ext cx="3166799" cy="2419356"/>
            </a:xfrm>
            <a:prstGeom prst="rect">
              <a:avLst/>
            </a:prstGeom>
          </p:spPr>
        </p:pic>
        <p:sp>
          <p:nvSpPr>
            <p:cNvPr id="12" name="文本2"/>
            <p:cNvSpPr txBox="1"/>
            <p:nvPr/>
          </p:nvSpPr>
          <p:spPr>
            <a:xfrm>
              <a:off x="2213848" y="1519990"/>
              <a:ext cx="952500" cy="693357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/>
              <a:r>
                <a:rPr lang="zh-CN" altLang="en-US" sz="3000" b="0" i="0" dirty="0"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</a:rPr>
                <a:t>空气</a:t>
              </a:r>
            </a:p>
          </p:txBody>
        </p:sp>
        <p:sp>
          <p:nvSpPr>
            <p:cNvPr id="13" name="文本3"/>
            <p:cNvSpPr txBox="1"/>
            <p:nvPr/>
          </p:nvSpPr>
          <p:spPr>
            <a:xfrm>
              <a:off x="2213886" y="710593"/>
              <a:ext cx="952500" cy="693356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/>
              <a:r>
                <a:rPr lang="zh-CN" altLang="en-US" sz="3000" b="0" i="0" dirty="0"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</a:rPr>
                <a:t>玻璃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799109" y="1193740"/>
            <a:ext cx="11239577" cy="200619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4500"/>
              </a:lnSpc>
            </a:pPr>
            <a:r>
              <a:rPr lang="zh-CN" altLang="en-US" sz="2999" b="0" i="0" dirty="0">
                <a:solidFill>
                  <a:srgbClr val="000000">
                    <a:alpha val="100000"/>
                  </a:srgbClr>
                </a:solidFill>
                <a:effectLst>
                  <a:outerShdw blurRad="38100" dist="38100" dir="2700000" rotWithShape="0">
                    <a:srgbClr val="000000">
                      <a:alpha val="42745"/>
                    </a:srgbClr>
                  </a:outerShdw>
                </a:effectLst>
                <a:latin typeface="微软雅黑"/>
                <a:ea typeface="微软雅黑"/>
              </a:rPr>
              <a:t>如图一束光线垂直于凸透镜主光轴射向平面镜，请你在图中画出经过平面镜反射后射向凸透镜的一束光线，请完成光路图</a:t>
            </a:r>
          </a:p>
        </p:txBody>
      </p:sp>
      <p:pic>
        <p:nvPicPr>
          <p:cNvPr id="3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848" y="2743714"/>
            <a:ext cx="3859519" cy="2667019"/>
          </a:xfrm>
          <a:prstGeom prst="rect">
            <a:avLst/>
          </a:prstGeom>
        </p:spPr>
      </p:pic>
      <p:pic>
        <p:nvPicPr>
          <p:cNvPr id="4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60" y="2820210"/>
            <a:ext cx="3619525" cy="2514299"/>
          </a:xfrm>
          <a:prstGeom prst="rect">
            <a:avLst/>
          </a:prstGeom>
        </p:spPr>
      </p:pic>
      <p:sp>
        <p:nvSpPr>
          <p:cNvPr id="5" name="文本2"/>
          <p:cNvSpPr txBox="1"/>
          <p:nvPr/>
        </p:nvSpPr>
        <p:spPr>
          <a:xfrm>
            <a:off x="799267" y="501152"/>
            <a:ext cx="1937925" cy="693356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2999" b="0" i="0" dirty="0">
                <a:solidFill>
                  <a:srgbClr val="FF0000">
                    <a:alpha val="100000"/>
                  </a:srgbClr>
                </a:solidFill>
                <a:latin typeface="微软雅黑"/>
                <a:ea typeface="微软雅黑"/>
              </a:rPr>
              <a:t>（3）综合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312</Words>
  <Application>Microsoft Macintosh PowerPoint</Application>
  <PresentationFormat>宽屏</PresentationFormat>
  <Paragraphs>34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等线</vt:lpstr>
      <vt:lpstr>等线 Light</vt:lpstr>
      <vt:lpstr>宋体</vt:lpstr>
      <vt:lpstr>Microsoft YaHei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期中考试复习作图专题</dc:title>
  <dc:creator>seewo_1358</dc:creator>
  <cp:lastModifiedBy>安 方</cp:lastModifiedBy>
  <cp:revision>1</cp:revision>
  <dcterms:created xsi:type="dcterms:W3CDTF">2025-11-01T03:17:57Z</dcterms:created>
  <dcterms:modified xsi:type="dcterms:W3CDTF">2025-11-02T06:27:36Z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licationName">
    <vt:lpwstr>EasiNote5</vt:lpwstr>
  </property>
  <property fmtid="{D5CDD505-2E9C-101B-9397-08002B2CF9AE}" pid="3" name="ApplicationVersion">
    <vt:lpwstr>5.2.4.8772</vt:lpwstr>
  </property>
  <property fmtid="{D5CDD505-2E9C-101B-9397-08002B2CF9AE}" pid="4" name="EasiNoteCoursewareInfo">
    <vt:lpwstr>196e8f2a-6b56-4f8d-8d53-5b073c70dfa6:1</vt:lpwstr>
  </property>
  <property fmtid="{D5CDD505-2E9C-101B-9397-08002B2CF9AE}" pid="5" name="EasiNoteDocumentName">
    <vt:lpwstr>期中考试复习作图专题</vt:lpwstr>
  </property>
  <property fmtid="{D5CDD505-2E9C-101B-9397-08002B2CF9AE}" pid="6" name="EasiNoteAuthor">
    <vt:lpwstr>195b1a1243414e088c3cdd68445b49d7</vt:lpwstr>
  </property>
  <property fmtid="{D5CDD505-2E9C-101B-9397-08002B2CF9AE}" pid="7" name="EasiNoteUpstreamCoursewareInfo_0">
    <vt:lpwstr>54774436-eaef-4db9-a0d7-b1dbadf7e702</vt:lpwstr>
  </property>
</Properties>
</file>