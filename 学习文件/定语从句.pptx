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7"/>
  </p:notesMasterIdLst>
  <p:handoutMasterIdLst>
    <p:handoutMasterId r:id="rId38"/>
  </p:handoutMasterIdLst>
  <p:sldIdLst>
    <p:sldId id="269" r:id="rId2"/>
    <p:sldId id="270" r:id="rId3"/>
    <p:sldId id="271" r:id="rId4"/>
    <p:sldId id="261" r:id="rId5"/>
    <p:sldId id="262" r:id="rId6"/>
    <p:sldId id="263" r:id="rId7"/>
    <p:sldId id="264" r:id="rId8"/>
    <p:sldId id="265" r:id="rId9"/>
    <p:sldId id="266" r:id="rId10"/>
    <p:sldId id="272" r:id="rId11"/>
    <p:sldId id="273" r:id="rId12"/>
    <p:sldId id="267" r:id="rId13"/>
    <p:sldId id="268" r:id="rId14"/>
    <p:sldId id="274" r:id="rId15"/>
    <p:sldId id="275" r:id="rId16"/>
    <p:sldId id="277" r:id="rId17"/>
    <p:sldId id="276" r:id="rId18"/>
    <p:sldId id="280" r:id="rId19"/>
    <p:sldId id="281" r:id="rId20"/>
    <p:sldId id="278" r:id="rId21"/>
    <p:sldId id="300" r:id="rId22"/>
    <p:sldId id="301" r:id="rId23"/>
    <p:sldId id="302" r:id="rId24"/>
    <p:sldId id="303" r:id="rId25"/>
    <p:sldId id="279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2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刘思蜀" initials="刘思蜀" lastIdx="1" clrIdx="0"/>
  <p:cmAuthor id="2" name="作者" initials="A" lastIdx="0" clrIdx="1"/>
  <p:cmAuthor id="3" name="Administrator" initials="A" lastIdx="2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76" autoAdjust="0"/>
    <p:restoredTop sz="86411"/>
  </p:normalViewPr>
  <p:slideViewPr>
    <p:cSldViewPr snapToGrid="0" showGuides="1">
      <p:cViewPr varScale="1">
        <p:scale>
          <a:sx n="100" d="100"/>
          <a:sy n="100" d="100"/>
        </p:scale>
        <p:origin x="1224" y="176"/>
      </p:cViewPr>
      <p:guideLst>
        <p:guide orient="horz" pos="2160"/>
        <p:guide pos="38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ommentAuthors" Target="commentAuthor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2025/10/11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2025/10/11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slideLayout" Target="../slideLayouts/slideLayout10.xml"/><Relationship Id="rId5" Type="http://schemas.openxmlformats.org/officeDocument/2006/relationships/tags" Target="../tags/tag10.xml"/><Relationship Id="rId4" Type="http://schemas.openxmlformats.org/officeDocument/2006/relationships/tags" Target="../tags/tag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4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4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slideLayout" Target="../slideLayouts/slideLayout10.xml"/><Relationship Id="rId5" Type="http://schemas.openxmlformats.org/officeDocument/2006/relationships/tags" Target="../tags/tag25.xml"/><Relationship Id="rId4" Type="http://schemas.openxmlformats.org/officeDocument/2006/relationships/tags" Target="../tags/tag2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4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756285" y="2200275"/>
            <a:ext cx="10467975" cy="1085215"/>
          </a:xfrm>
        </p:spPr>
        <p:txBody>
          <a:bodyPr>
            <a:normAutofit fontScale="90000"/>
          </a:bodyPr>
          <a:lstStyle/>
          <a:p>
            <a:r>
              <a:rPr lang="en-US" altLang="zh-CN" b="1"/>
              <a:t>Attributive Clause</a:t>
            </a:r>
            <a:r>
              <a:rPr lang="zh-CN" altLang="en-US" b="1"/>
              <a:t>（完整版本）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60655" y="236855"/>
            <a:ext cx="1187069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所以，当</a:t>
            </a:r>
            <a:r>
              <a:rPr lang="zh-CN" altLang="en-US" sz="3200" b="1" u="sng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先行词</a:t>
            </a:r>
            <a:r>
              <a:rPr lang="zh-CN" altLang="en-US" sz="3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</a:t>
            </a:r>
            <a:r>
              <a:rPr lang="en-US" altLang="zh-CN" sz="3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3200" b="1" u="sng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</a:t>
            </a:r>
            <a:r>
              <a:rPr lang="en-US" altLang="zh-CN" sz="3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3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的时候，我们如何选择关系代词</a:t>
            </a:r>
            <a:r>
              <a:rPr lang="en-US" altLang="zh-CN" sz="3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3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引导词呢？</a:t>
            </a:r>
          </a:p>
        </p:txBody>
      </p:sp>
      <p:sp>
        <p:nvSpPr>
          <p:cNvPr id="5" name="左大括号 4"/>
          <p:cNvSpPr/>
          <p:nvPr/>
        </p:nvSpPr>
        <p:spPr>
          <a:xfrm>
            <a:off x="2327910" y="1414145"/>
            <a:ext cx="729615" cy="3939540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92100" y="3083560"/>
            <a:ext cx="20015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/>
              <a:t>先行词为</a:t>
            </a:r>
            <a:r>
              <a:rPr lang="zh-CN" altLang="en-US" sz="2800" b="1" u="sng">
                <a:solidFill>
                  <a:srgbClr val="FF0000"/>
                </a:solidFill>
              </a:rPr>
              <a:t>人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903220" y="1495425"/>
            <a:ext cx="34575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关系代词当</a:t>
            </a:r>
            <a:r>
              <a:rPr lang="zh-CN" altLang="en-US" sz="2800" b="1" u="sng">
                <a:solidFill>
                  <a:srgbClr val="FF0000"/>
                </a:solidFill>
              </a:rPr>
              <a:t>主语</a:t>
            </a:r>
            <a:r>
              <a:rPr lang="zh-CN" altLang="en-US" sz="2800"/>
              <a:t>时：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080125" y="1456690"/>
            <a:ext cx="39662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>
                <a:latin typeface="Arial Bold" panose="020B0704020202020204" charset="0"/>
                <a:cs typeface="Arial Bold" panose="020B0704020202020204" charset="0"/>
              </a:rPr>
              <a:t>who, that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914650" y="2475865"/>
            <a:ext cx="33000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关系代词当</a:t>
            </a:r>
            <a:r>
              <a:rPr lang="zh-CN" altLang="en-US" sz="2800" b="1" u="sng">
                <a:solidFill>
                  <a:srgbClr val="FF0000"/>
                </a:solidFill>
              </a:rPr>
              <a:t>宾语</a:t>
            </a:r>
            <a:r>
              <a:rPr lang="zh-CN" altLang="en-US" sz="2800"/>
              <a:t>时：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6080125" y="2475865"/>
            <a:ext cx="485902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/>
              <a:t>who, that, whom, </a:t>
            </a:r>
            <a:r>
              <a:rPr lang="zh-CN" altLang="en-US" sz="3200" b="1"/>
              <a:t>不填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2914650" y="3456305"/>
            <a:ext cx="30765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关系代词当</a:t>
            </a:r>
            <a:r>
              <a:rPr lang="zh-CN" altLang="en-US" sz="2800" b="1" u="sng">
                <a:solidFill>
                  <a:srgbClr val="FF0000"/>
                </a:solidFill>
              </a:rPr>
              <a:t>表语</a:t>
            </a:r>
            <a:r>
              <a:rPr lang="zh-CN" altLang="en-US" sz="2800"/>
              <a:t>时：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6080125" y="3455670"/>
            <a:ext cx="39662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/>
              <a:t>that,  </a:t>
            </a:r>
            <a:r>
              <a:rPr lang="zh-CN" altLang="en-US" sz="3200" b="1"/>
              <a:t>不填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2903220" y="4665980"/>
            <a:ext cx="33000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关系代词当</a:t>
            </a:r>
            <a:r>
              <a:rPr lang="zh-CN" altLang="en-US" sz="2800" b="1" u="sng">
                <a:solidFill>
                  <a:srgbClr val="FF0000"/>
                </a:solidFill>
              </a:rPr>
              <a:t>定语</a:t>
            </a:r>
            <a:r>
              <a:rPr lang="zh-CN" altLang="en-US" sz="2800"/>
              <a:t>时：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6080125" y="4610735"/>
            <a:ext cx="14992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>
                <a:latin typeface="Arial Bold" panose="020B0704020202020204" charset="0"/>
                <a:cs typeface="Arial Bold" panose="020B0704020202020204" charset="0"/>
              </a:rPr>
              <a:t>whose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ldLvl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9695" y="199390"/>
            <a:ext cx="119970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所以，当</a:t>
            </a:r>
            <a:r>
              <a:rPr lang="zh-CN" altLang="en-US" sz="3600" b="1" u="sng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先行词</a:t>
            </a:r>
            <a:r>
              <a:rPr lang="zh-CN" altLang="en-US" sz="3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</a:t>
            </a:r>
            <a:r>
              <a:rPr lang="en-US" altLang="zh-CN" sz="3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3600" b="1" u="sng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物</a:t>
            </a:r>
            <a:r>
              <a:rPr lang="en-US" altLang="zh-CN" sz="3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3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的时候，我们如何选择关系词呢？</a:t>
            </a:r>
          </a:p>
        </p:txBody>
      </p:sp>
      <p:sp>
        <p:nvSpPr>
          <p:cNvPr id="5" name="左大括号 4"/>
          <p:cNvSpPr/>
          <p:nvPr/>
        </p:nvSpPr>
        <p:spPr>
          <a:xfrm>
            <a:off x="2327910" y="1313180"/>
            <a:ext cx="729615" cy="3939540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04140" y="2982595"/>
            <a:ext cx="2386965" cy="10642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b="1"/>
              <a:t>先行词为</a:t>
            </a:r>
            <a:r>
              <a:rPr lang="zh-CN" altLang="en-US" sz="3200" b="1" u="sng">
                <a:solidFill>
                  <a:srgbClr val="FF0000"/>
                </a:solidFill>
              </a:rPr>
              <a:t>物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817495" y="1445260"/>
            <a:ext cx="28975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关系词当</a:t>
            </a:r>
            <a:r>
              <a:rPr lang="zh-CN" altLang="en-US" sz="2800" b="1" u="sng">
                <a:solidFill>
                  <a:srgbClr val="FF0000"/>
                </a:solidFill>
              </a:rPr>
              <a:t>主语</a:t>
            </a:r>
            <a:r>
              <a:rPr lang="zh-CN" altLang="en-US" sz="2800"/>
              <a:t>时：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5715000" y="1414145"/>
            <a:ext cx="39662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/>
              <a:t>which, that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817495" y="2452370"/>
            <a:ext cx="31610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关系词当</a:t>
            </a:r>
            <a:r>
              <a:rPr lang="zh-CN" altLang="en-US" sz="2800" b="1" u="sng">
                <a:solidFill>
                  <a:srgbClr val="FF0000"/>
                </a:solidFill>
              </a:rPr>
              <a:t>宾语</a:t>
            </a:r>
            <a:r>
              <a:rPr lang="zh-CN" altLang="en-US" sz="2800"/>
              <a:t>时：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5715000" y="2452370"/>
            <a:ext cx="39662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/>
              <a:t>which, that, </a:t>
            </a:r>
            <a:r>
              <a:rPr lang="zh-CN" altLang="en-US" sz="2800"/>
              <a:t>不填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2817495" y="3429000"/>
            <a:ext cx="27095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关系词当</a:t>
            </a:r>
            <a:r>
              <a:rPr lang="zh-CN" altLang="en-US" sz="2800" b="1" u="sng">
                <a:solidFill>
                  <a:srgbClr val="FF0000"/>
                </a:solidFill>
              </a:rPr>
              <a:t>表语</a:t>
            </a:r>
            <a:r>
              <a:rPr lang="zh-CN" altLang="en-US" sz="2800"/>
              <a:t>时：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5715000" y="3429000"/>
            <a:ext cx="39662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/>
              <a:t>that,  </a:t>
            </a:r>
            <a:r>
              <a:rPr lang="zh-CN" altLang="en-US" sz="2800"/>
              <a:t>不填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2817495" y="4490085"/>
            <a:ext cx="30041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关系词当</a:t>
            </a:r>
            <a:r>
              <a:rPr lang="zh-CN" altLang="en-US" sz="2800" b="1" u="sng">
                <a:solidFill>
                  <a:srgbClr val="FF0000"/>
                </a:solidFill>
              </a:rPr>
              <a:t>定语</a:t>
            </a:r>
            <a:r>
              <a:rPr lang="zh-CN" altLang="en-US" sz="2800"/>
              <a:t>时：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5821680" y="4486275"/>
            <a:ext cx="14992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/>
              <a:t>whose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ldLvl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07010" y="116840"/>
            <a:ext cx="2588260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algn="l"/>
            <a:r>
              <a:rPr lang="zh-CN" altLang="en-US" sz="3200" b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定语从句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07010" y="1134745"/>
            <a:ext cx="110744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that, who, which, whom, whose</a:t>
            </a:r>
            <a:r>
              <a:rPr lang="zh-CN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</a:p>
          <a:p>
            <a:r>
              <a:rPr lang="en-US" altLang="zh-CN" sz="36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when, where, why</a:t>
            </a:r>
            <a:r>
              <a:rPr lang="en-US" altLang="zh-CN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zh-CN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给我记住这些</a:t>
            </a:r>
            <a:r>
              <a:rPr lang="zh-CN" altLang="en-US" sz="36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引导词</a:t>
            </a:r>
            <a:r>
              <a:rPr lang="en-US" altLang="zh-CN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07010" y="2907030"/>
            <a:ext cx="110744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that, who, which, whom, whose  </a:t>
            </a:r>
            <a:r>
              <a:rPr lang="zh-CN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从句中</a:t>
            </a:r>
            <a:r>
              <a:rPr lang="zh-CN" altLang="en-US" sz="36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缺成分</a:t>
            </a:r>
            <a:r>
              <a:rPr lang="zh-CN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了选它们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07010" y="3922395"/>
            <a:ext cx="110744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when, where, why</a:t>
            </a:r>
            <a:r>
              <a:rPr lang="en-US" altLang="zh-CN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从句中</a:t>
            </a:r>
            <a:r>
              <a:rPr lang="zh-CN" altLang="en-US" sz="36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不缺成分</a:t>
            </a:r>
            <a:r>
              <a:rPr lang="zh-CN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了选它们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" grpId="0"/>
      <p:bldP spid="7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0" y="697865"/>
            <a:ext cx="12576175" cy="629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500" b="1">
                <a:latin typeface="Andalus" panose="02020603050405020304" charset="0"/>
                <a:cs typeface="Andalus" panose="02020603050405020304" charset="0"/>
              </a:rPr>
              <a:t>I still remember the day ______ you hugged me gently.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0" y="2366645"/>
            <a:ext cx="12814300" cy="629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500" b="1">
                <a:latin typeface="Andalus" panose="02020603050405020304" charset="0"/>
                <a:cs typeface="Andalus" panose="02020603050405020304" charset="0"/>
              </a:rPr>
              <a:t>I still remember the place ______ we saw the sky together.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0" y="3963035"/>
            <a:ext cx="11456670" cy="629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500" b="1">
                <a:latin typeface="Andalus" panose="02020603050405020304" charset="0"/>
                <a:cs typeface="Andalus" panose="02020603050405020304" charset="0"/>
              </a:rPr>
              <a:t>I still remember the reason ______ you love me.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91440" y="5111115"/>
            <a:ext cx="93160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when, where, why</a:t>
            </a:r>
            <a:r>
              <a:rPr lang="en-US" altLang="zh-CN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从句中</a:t>
            </a:r>
            <a:r>
              <a:rPr lang="zh-CN" altLang="en-US" sz="36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不缺成分</a:t>
            </a:r>
            <a:r>
              <a:rPr lang="zh-CN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了选它们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/>
      <p:bldP spid="4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226060" y="245745"/>
            <a:ext cx="76796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特殊情况</a:t>
            </a:r>
            <a:r>
              <a:rPr lang="en-US" altLang="zh-CN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：（只能用</a:t>
            </a:r>
            <a:r>
              <a:rPr lang="en-US" altLang="zh-CN" sz="4000" b="1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that</a:t>
            </a:r>
            <a:r>
              <a:rPr lang="en-US" altLang="zh-CN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!!!</a:t>
            </a:r>
            <a:r>
              <a:rPr lang="zh-CN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26060" y="1330325"/>
            <a:ext cx="839660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先行词为：</a:t>
            </a:r>
            <a:r>
              <a:rPr lang="zh-CN" altLang="en-US" sz="4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不定代词指物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26060" y="2225040"/>
            <a:ext cx="1102169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we all know, all _____ can be done has been done.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26060" y="3735070"/>
            <a:ext cx="11530965" cy="16167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lnSpc>
                <a:spcPct val="70000"/>
              </a:lnSpc>
              <a:spcBef>
                <a:spcPct val="50000"/>
              </a:spcBef>
              <a:buNone/>
            </a:pPr>
            <a:r>
              <a:rPr lang="zh-CN" altLang="en-US" sz="3200" b="1" dirty="0">
                <a:solidFill>
                  <a:srgbClr val="0066FF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先行词是 </a:t>
            </a:r>
          </a:p>
          <a:p>
            <a:pPr indent="0">
              <a:lnSpc>
                <a:spcPct val="70000"/>
              </a:lnSpc>
              <a:spcBef>
                <a:spcPct val="50000"/>
              </a:spcBef>
              <a:buNone/>
            </a:pPr>
            <a:r>
              <a:rPr lang="zh-CN" altLang="en-US" sz="3200" b="1" dirty="0">
                <a:solidFill>
                  <a:srgbClr val="0066FF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sz="3200" b="1" dirty="0">
                <a:solidFill>
                  <a:srgbClr val="0066FF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all, any, few, little, none, anything, </a:t>
            </a:r>
            <a:endParaRPr lang="en-US" altLang="zh-CN" sz="3200" b="1" i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lnSpc>
                <a:spcPct val="70000"/>
              </a:lnSpc>
              <a:spcBef>
                <a:spcPct val="50000"/>
              </a:spcBef>
              <a:buNone/>
            </a:pPr>
            <a:r>
              <a:rPr lang="en-US" altLang="zh-CN"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 everything, nothing, someting. </a:t>
            </a:r>
            <a:r>
              <a:rPr lang="zh-CN" altLang="en-US"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等等等等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" grpId="0"/>
      <p:bldP spid="3" grpId="0"/>
      <p:bldP spid="4" grpId="0"/>
      <p:bldP spid="4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50495" y="245745"/>
            <a:ext cx="76796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特殊情况</a:t>
            </a:r>
            <a:r>
              <a:rPr lang="en-US" altLang="zh-C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：（只能用</a:t>
            </a:r>
            <a:r>
              <a:rPr lang="en-US" altLang="zh-CN" sz="3200" b="1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that</a:t>
            </a:r>
            <a:r>
              <a:rPr lang="en-US" altLang="zh-C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!!!</a:t>
            </a:r>
            <a:r>
              <a:rPr lang="zh-CN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50495" y="1543685"/>
            <a:ext cx="1144841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先行词被：</a:t>
            </a:r>
            <a:r>
              <a:rPr lang="en-US" altLang="zh-CN" sz="3200" b="1" u="sng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the only</a:t>
            </a:r>
            <a:r>
              <a:rPr lang="zh-CN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（这个最常见！）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, the very, the right, </a:t>
            </a:r>
            <a:r>
              <a:rPr lang="en-US" altLang="zh-CN" sz="3200" b="1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the last </a:t>
            </a:r>
            <a:r>
              <a:rPr lang="zh-CN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修饰的时候！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26060" y="2943225"/>
            <a:ext cx="11447780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the only word ________ I don’t know in the passage.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" grpId="0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51130" y="245745"/>
            <a:ext cx="76796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特殊情况</a:t>
            </a:r>
            <a:r>
              <a:rPr lang="en-US" altLang="zh-CN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：（只能用</a:t>
            </a:r>
            <a:r>
              <a:rPr lang="en-US" altLang="zh-CN" sz="3600" b="1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that</a:t>
            </a:r>
            <a:r>
              <a:rPr lang="en-US" altLang="zh-CN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!!!</a:t>
            </a:r>
            <a:r>
              <a:rPr lang="zh-CN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51130" y="1417955"/>
            <a:ext cx="62395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先行词即有</a:t>
            </a:r>
            <a:r>
              <a:rPr lang="zh-CN" altLang="en-US" sz="36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人</a:t>
            </a:r>
            <a:r>
              <a:rPr lang="zh-CN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又有</a:t>
            </a:r>
            <a:r>
              <a:rPr lang="zh-CN" altLang="en-US" sz="36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物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4770" y="2466975"/>
            <a:ext cx="1212723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auto">
              <a:lnSpc>
                <a:spcPct val="150000"/>
              </a:lnSpc>
            </a:pPr>
            <a:r>
              <a:rPr lang="en-US" altLang="zh-CN" sz="3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characters and events </a:t>
            </a:r>
            <a:r>
              <a:rPr lang="en-US" altLang="zh-CN" sz="36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_______</a:t>
            </a:r>
            <a:r>
              <a:rPr lang="en-US" altLang="zh-CN" sz="3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author described in his book are very interesting.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" grpId="0"/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0" y="245745"/>
            <a:ext cx="76796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特殊情况</a:t>
            </a:r>
            <a:r>
              <a:rPr lang="en-US" altLang="zh-CN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：（只能用</a:t>
            </a:r>
            <a:r>
              <a:rPr lang="en-US" altLang="zh-CN" sz="4000" b="1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that</a:t>
            </a:r>
            <a:r>
              <a:rPr lang="en-US" altLang="zh-CN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!!!</a:t>
            </a:r>
            <a:r>
              <a:rPr lang="zh-CN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0" y="1417955"/>
            <a:ext cx="1144841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先行词前：</a:t>
            </a:r>
            <a:r>
              <a:rPr lang="zh-CN" altLang="en-US" sz="32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序数词</a:t>
            </a:r>
            <a:r>
              <a:rPr lang="zh-CN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the first</a:t>
            </a:r>
            <a:r>
              <a:rPr lang="zh-CN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32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形容词最高级！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(the best, the biggest....)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0" y="3173095"/>
            <a:ext cx="1172972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 was the first _______ gave us some useful advice.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0" y="4395470"/>
            <a:ext cx="1152461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the best film _____ shows us courage and love.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" grpId="0"/>
      <p:bldP spid="3" grpId="0"/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51130" y="245745"/>
            <a:ext cx="76796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特殊情况</a:t>
            </a:r>
            <a:r>
              <a:rPr lang="en-US" altLang="zh-CN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：（只能用</a:t>
            </a:r>
            <a:r>
              <a:rPr lang="en-US" altLang="zh-CN" sz="3600" b="1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that</a:t>
            </a:r>
            <a:r>
              <a:rPr lang="en-US" altLang="zh-CN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!!!</a:t>
            </a:r>
            <a:r>
              <a:rPr lang="zh-CN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51130" y="1079500"/>
            <a:ext cx="1065593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当主句以 </a:t>
            </a:r>
            <a:r>
              <a:rPr lang="zh-CN" altLang="en-US" sz="3600" b="1">
                <a:solidFill>
                  <a:srgbClr val="C0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who</a:t>
            </a:r>
            <a:r>
              <a:rPr lang="zh-CN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 或 </a:t>
            </a:r>
            <a:r>
              <a:rPr lang="zh-CN" altLang="en-US" sz="3600" b="1">
                <a:solidFill>
                  <a:srgbClr val="C0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which</a:t>
            </a:r>
            <a:r>
              <a:rPr lang="zh-CN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开头时，定语从句</a:t>
            </a:r>
          </a:p>
          <a:p>
            <a:r>
              <a:rPr lang="zh-CN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的关系词用 </a:t>
            </a:r>
            <a:r>
              <a:rPr lang="zh-CN" altLang="en-US" sz="3600" b="1">
                <a:solidFill>
                  <a:srgbClr val="C0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that</a:t>
            </a:r>
            <a:r>
              <a:rPr lang="zh-CN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, 而不用 </a:t>
            </a:r>
            <a:r>
              <a:rPr lang="zh-CN" altLang="en-US" sz="3600" b="1">
                <a:solidFill>
                  <a:srgbClr val="C0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which</a:t>
            </a:r>
            <a:r>
              <a:rPr lang="zh-CN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 或 </a:t>
            </a:r>
            <a:r>
              <a:rPr lang="zh-CN" altLang="en-US" sz="3600" b="1">
                <a:solidFill>
                  <a:srgbClr val="C0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who</a:t>
            </a:r>
            <a:r>
              <a:rPr lang="zh-CN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0" y="2322195"/>
            <a:ext cx="1212723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auto">
              <a:lnSpc>
                <a:spcPct val="150000"/>
              </a:lnSpc>
            </a:pPr>
            <a:r>
              <a:rPr lang="en-US" altLang="zh-CN" sz="4400" b="1">
                <a:latin typeface="Times New Roman" panose="02020603050405020304" pitchFamily="18" charset="0"/>
                <a:cs typeface="Times New Roman" panose="02020603050405020304" pitchFamily="18" charset="0"/>
              </a:rPr>
              <a:t>Who is the girl </a:t>
            </a:r>
            <a:r>
              <a:rPr lang="en-US" altLang="zh-CN" sz="44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_______</a:t>
            </a:r>
            <a:r>
              <a:rPr lang="en-US" altLang="zh-CN" sz="4400" b="1">
                <a:latin typeface="Times New Roman" panose="02020603050405020304" pitchFamily="18" charset="0"/>
                <a:cs typeface="Times New Roman" panose="02020603050405020304" pitchFamily="18" charset="0"/>
              </a:rPr>
              <a:t> spoke to you just now?</a:t>
            </a:r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0" y="3556000"/>
            <a:ext cx="1212723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auto">
              <a:lnSpc>
                <a:spcPct val="150000"/>
              </a:lnSpc>
            </a:pPr>
            <a:r>
              <a:rPr lang="en-US" altLang="zh-CN" sz="4400" b="1">
                <a:latin typeface="Times New Roman" panose="02020603050405020304" pitchFamily="18" charset="0"/>
                <a:cs typeface="Times New Roman" panose="02020603050405020304" pitchFamily="18" charset="0"/>
              </a:rPr>
              <a:t>Which is the pen </a:t>
            </a:r>
            <a:r>
              <a:rPr lang="en-US" altLang="zh-CN" sz="44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_______ </a:t>
            </a:r>
            <a:r>
              <a:rPr lang="en-US" altLang="zh-CN" sz="4400" b="1">
                <a:latin typeface="Times New Roman" panose="02020603050405020304" pitchFamily="18" charset="0"/>
                <a:cs typeface="Times New Roman" panose="02020603050405020304" pitchFamily="18" charset="0"/>
              </a:rPr>
              <a:t>you lost ?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" grpId="0"/>
      <p:bldP spid="3" grpId="0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左大括号 2"/>
          <p:cNvSpPr/>
          <p:nvPr/>
        </p:nvSpPr>
        <p:spPr>
          <a:xfrm>
            <a:off x="327025" y="295275"/>
            <a:ext cx="1018540" cy="6102350"/>
          </a:xfrm>
          <a:prstGeom prst="leftBrac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842645" y="436880"/>
            <a:ext cx="839660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先行词为：</a:t>
            </a:r>
            <a:r>
              <a:rPr lang="zh-CN" altLang="en-US" sz="4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不定代词指物</a:t>
            </a: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842645" y="1418590"/>
            <a:ext cx="1156525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先行词被：</a:t>
            </a:r>
            <a:r>
              <a:rPr lang="en-US" altLang="zh-CN" sz="4000" b="1" u="sng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the only</a:t>
            </a:r>
            <a:r>
              <a:rPr lang="en-US" altLang="zh-CN" sz="4000">
                <a:latin typeface="Times New Roman" panose="02020603050405020304" pitchFamily="18" charset="0"/>
                <a:cs typeface="Times New Roman" panose="02020603050405020304" pitchFamily="18" charset="0"/>
              </a:rPr>
              <a:t>, the very, the right, </a:t>
            </a:r>
            <a:r>
              <a:rPr lang="en-US" altLang="zh-CN" sz="4000" b="1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the last </a:t>
            </a:r>
            <a:r>
              <a:rPr lang="zh-CN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修饰</a:t>
            </a: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842645" y="2588895"/>
            <a:ext cx="6239510" cy="7067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先行词即有</a:t>
            </a:r>
            <a:r>
              <a:rPr lang="zh-CN" altLang="en-US" sz="4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人</a:t>
            </a:r>
            <a:r>
              <a:rPr lang="zh-CN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又有</a:t>
            </a:r>
            <a:r>
              <a:rPr lang="zh-CN" altLang="en-US" sz="4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物</a:t>
            </a: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842645" y="3759200"/>
            <a:ext cx="959866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先行词前：</a:t>
            </a:r>
            <a:r>
              <a:rPr lang="zh-CN" altLang="en-US" sz="4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序数词</a:t>
            </a:r>
            <a:r>
              <a:rPr lang="en-US" altLang="zh-CN" sz="4000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zh-CN" altLang="en-US" sz="4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形容词最高级</a:t>
            </a:r>
            <a:endParaRPr lang="en-US" altLang="zh-CN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842645" y="5005070"/>
            <a:ext cx="798830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>
                <a:latin typeface="Times New Roman" panose="02020603050405020304" pitchFamily="18" charset="0"/>
                <a:cs typeface="Times New Roman" panose="02020603050405020304" pitchFamily="18" charset="0"/>
              </a:rPr>
              <a:t>当主句以 </a:t>
            </a:r>
            <a:r>
              <a:rPr lang="zh-CN" altLang="en-US" sz="4400" b="1">
                <a:solidFill>
                  <a:srgbClr val="C0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who</a:t>
            </a:r>
            <a:r>
              <a:rPr lang="zh-CN" altLang="en-US" sz="4400">
                <a:latin typeface="Times New Roman" panose="02020603050405020304" pitchFamily="18" charset="0"/>
                <a:cs typeface="Times New Roman" panose="02020603050405020304" pitchFamily="18" charset="0"/>
              </a:rPr>
              <a:t> 或 </a:t>
            </a:r>
            <a:r>
              <a:rPr lang="zh-CN" altLang="en-US" sz="4400" b="1">
                <a:solidFill>
                  <a:srgbClr val="C0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which</a:t>
            </a:r>
            <a:r>
              <a:rPr lang="zh-CN" altLang="en-US" sz="4400">
                <a:latin typeface="Times New Roman" panose="02020603050405020304" pitchFamily="18" charset="0"/>
                <a:cs typeface="Times New Roman" panose="02020603050405020304" pitchFamily="18" charset="0"/>
              </a:rPr>
              <a:t>开头时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4" grpId="0"/>
      <p:bldP spid="5" grpId="0"/>
      <p:bldP spid="6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18110" y="334010"/>
            <a:ext cx="935228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特殊情况</a:t>
            </a:r>
            <a:r>
              <a:rPr lang="en-US" altLang="zh-CN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：（只能用</a:t>
            </a:r>
            <a:r>
              <a:rPr lang="en-US" altLang="zh-CN" sz="4000" b="1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who/whom</a:t>
            </a:r>
            <a:r>
              <a:rPr lang="en-US" altLang="zh-CN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!!!</a:t>
            </a:r>
            <a:r>
              <a:rPr lang="zh-CN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18110" y="1417955"/>
            <a:ext cx="114484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先行词为：</a:t>
            </a:r>
            <a:r>
              <a:rPr lang="en-US" altLang="zh-CN" sz="3200" b="1">
                <a:solidFill>
                  <a:srgbClr val="C0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those, </a:t>
            </a:r>
            <a:r>
              <a:rPr lang="en-US" altLang="zh-CN" sz="32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people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18110" y="2378710"/>
            <a:ext cx="1120330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Those _______ want to go there come here please.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" grpId="0"/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226060" y="245745"/>
            <a:ext cx="950404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特殊情况</a:t>
            </a:r>
            <a:r>
              <a:rPr lang="en-US" altLang="zh-CN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：（只能用</a:t>
            </a:r>
            <a:r>
              <a:rPr lang="en-US" altLang="zh-CN" sz="4000" b="1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who/whom</a:t>
            </a:r>
            <a:r>
              <a:rPr lang="en-US" altLang="zh-CN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!!!</a:t>
            </a:r>
            <a:r>
              <a:rPr lang="zh-CN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26060" y="1673225"/>
            <a:ext cx="114484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先行词为：</a:t>
            </a:r>
            <a:r>
              <a:rPr lang="zh-CN" altLang="en-US" sz="32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不定代词指人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25730" y="2552065"/>
            <a:ext cx="1085977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Anyone _______ is against us is our enemy.</a:t>
            </a:r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125730" y="4600575"/>
            <a:ext cx="11530965" cy="15157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>
              <a:lnSpc>
                <a:spcPct val="70000"/>
              </a:lnSpc>
              <a:spcBef>
                <a:spcPct val="50000"/>
              </a:spcBef>
              <a:buNone/>
            </a:pPr>
            <a:r>
              <a:rPr lang="zh-CN" altLang="en-US" sz="3200" b="1" dirty="0">
                <a:solidFill>
                  <a:srgbClr val="0066FF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先行词是 </a:t>
            </a:r>
          </a:p>
          <a:p>
            <a:pPr indent="0">
              <a:lnSpc>
                <a:spcPct val="70000"/>
              </a:lnSpc>
              <a:spcBef>
                <a:spcPct val="50000"/>
              </a:spcBef>
              <a:buNone/>
            </a:pPr>
            <a:r>
              <a:rPr lang="zh-CN" altLang="en-US" sz="3200" b="1" dirty="0">
                <a:solidFill>
                  <a:srgbClr val="0066FF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sz="3200" b="1" dirty="0">
                <a:solidFill>
                  <a:srgbClr val="0066FF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all, any, few, little, none, anyone, </a:t>
            </a:r>
            <a:endParaRPr lang="en-US" altLang="zh-CN" sz="3200" b="1" i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lnSpc>
                <a:spcPct val="70000"/>
              </a:lnSpc>
              <a:spcBef>
                <a:spcPct val="50000"/>
              </a:spcBef>
              <a:buNone/>
            </a:pPr>
            <a:r>
              <a:rPr lang="en-US" altLang="zh-CN"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 everybody, nobody, everyone, no one</a:t>
            </a:r>
            <a:r>
              <a:rPr lang="zh-CN" altLang="en-US" sz="3200" b="1" dirty="0">
                <a:solidFill>
                  <a:srgbClr val="0066FF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等等等等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" grpId="0"/>
      <p:bldP spid="3" grpId="0"/>
      <p:bldP spid="4" grpId="0"/>
      <p:bldP spid="4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左大括号 2"/>
          <p:cNvSpPr/>
          <p:nvPr>
            <p:custDataLst>
              <p:tags r:id="rId1"/>
            </p:custDataLst>
          </p:nvPr>
        </p:nvSpPr>
        <p:spPr>
          <a:xfrm>
            <a:off x="327025" y="295275"/>
            <a:ext cx="1030605" cy="5008245"/>
          </a:xfrm>
          <a:prstGeom prst="leftBrac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986155" y="474345"/>
            <a:ext cx="1144841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>
                <a:latin typeface="Times New Roman" panose="02020603050405020304" pitchFamily="18" charset="0"/>
                <a:cs typeface="Times New Roman" panose="02020603050405020304" pitchFamily="18" charset="0"/>
              </a:rPr>
              <a:t>先行词为：</a:t>
            </a:r>
            <a:r>
              <a:rPr lang="en-US" altLang="zh-CN" sz="4400" b="1">
                <a:solidFill>
                  <a:srgbClr val="C0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those, </a:t>
            </a:r>
            <a:r>
              <a:rPr lang="en-US" altLang="zh-CN" sz="4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people</a:t>
            </a: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986155" y="4328160"/>
            <a:ext cx="1144841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>
                <a:latin typeface="Times New Roman" panose="02020603050405020304" pitchFamily="18" charset="0"/>
                <a:cs typeface="Times New Roman" panose="02020603050405020304" pitchFamily="18" charset="0"/>
              </a:rPr>
              <a:t>先行词为：</a:t>
            </a:r>
            <a:r>
              <a:rPr lang="zh-CN" altLang="en-US" sz="4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不定代词指人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3" grpId="1" animBg="1"/>
      <p:bldP spid="4" grpId="0"/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51130" y="203835"/>
            <a:ext cx="11870055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>
              <a:spcBef>
                <a:spcPct val="50000"/>
              </a:spcBef>
            </a:pPr>
            <a:r>
              <a:rPr lang="en-US" altLang="zh-CN" sz="400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1. I’ve never heard of </a:t>
            </a:r>
            <a:r>
              <a:rPr lang="en-US" altLang="zh-CN" sz="4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the people and things</a:t>
            </a:r>
            <a:r>
              <a:rPr lang="en-US" altLang="zh-CN" sz="400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________ you talked about just now.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51130" y="2125345"/>
            <a:ext cx="924179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spcBef>
                <a:spcPct val="50000"/>
              </a:spcBef>
              <a:buNone/>
            </a:pPr>
            <a:r>
              <a:rPr lang="en-US" altLang="zh-CN" sz="400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2. Say</a:t>
            </a:r>
            <a:r>
              <a:rPr lang="en-US" altLang="zh-CN" sz="4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all</a:t>
            </a:r>
            <a:r>
              <a:rPr lang="en-US" altLang="zh-CN" sz="40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sz="400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________ you know.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51130" y="3431540"/>
            <a:ext cx="1168209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spcBef>
                <a:spcPct val="50000"/>
              </a:spcBef>
            </a:pPr>
            <a:r>
              <a:rPr lang="en-US" altLang="zh-CN" sz="4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3.The first one _____ stands up is a little boy.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51130" y="4930140"/>
            <a:ext cx="11682095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spcBef>
                <a:spcPct val="50000"/>
              </a:spcBef>
            </a:pPr>
            <a:r>
              <a:rPr lang="en-US" altLang="zh-CN" sz="4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4.Many people _______ are struggling with COVID-19 are our examples.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/>
      <p:bldP spid="3" grpId="1"/>
      <p:bldP spid="4" grpId="0"/>
      <p:bldP spid="4" grpId="1"/>
      <p:bldP spid="5" grpId="0"/>
      <p:bldP spid="5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7150" y="216535"/>
            <a:ext cx="11870055" cy="14452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>
              <a:spcBef>
                <a:spcPct val="50000"/>
              </a:spcBef>
            </a:pPr>
            <a:r>
              <a:rPr lang="en-US" altLang="zh-CN" sz="440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5. Is there anything ________ you want to buy in the town.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7150" y="2207260"/>
            <a:ext cx="11870690" cy="14452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spcBef>
                <a:spcPct val="50000"/>
              </a:spcBef>
              <a:buNone/>
            </a:pPr>
            <a:r>
              <a:rPr lang="en-US" altLang="zh-CN" sz="440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6. Does the teacher know everybody _____ planted the trees. 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0" y="4488180"/>
            <a:ext cx="11682095" cy="14452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spcBef>
                <a:spcPct val="50000"/>
              </a:spcBef>
            </a:pPr>
            <a:r>
              <a:rPr lang="en-US" altLang="zh-CN" sz="4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7.This is the first gift </a:t>
            </a:r>
            <a:r>
              <a:rPr lang="en-US" altLang="zh-CN" sz="440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_________</a:t>
            </a:r>
            <a:r>
              <a:rPr lang="en-US" altLang="zh-CN" sz="4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my parents bought me.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/>
      <p:bldP spid="3" grpId="1"/>
      <p:bldP spid="4" grpId="0"/>
      <p:bldP spid="4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80645" y="176530"/>
            <a:ext cx="1144841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>
                <a:latin typeface="Times New Roman" panose="02020603050405020304" pitchFamily="18" charset="0"/>
                <a:cs typeface="Times New Roman" panose="02020603050405020304" pitchFamily="18" charset="0"/>
              </a:rPr>
              <a:t>定语从句中的</a:t>
            </a:r>
            <a:r>
              <a:rPr lang="zh-CN" altLang="en-US" sz="4400" b="1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主谓一致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0645" y="5132070"/>
            <a:ext cx="11448415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spcBef>
                <a:spcPct val="50000"/>
              </a:spcBef>
            </a:pPr>
            <a:r>
              <a:rPr lang="en-US" altLang="zh-CN" sz="4000" b="1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The telephone that _______  been already given to me is home-made. (have)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895" y="944880"/>
            <a:ext cx="4114800" cy="41243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3" grpId="0"/>
      <p:bldP spid="3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80645" y="176530"/>
            <a:ext cx="1144841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>
                <a:latin typeface="Times New Roman" panose="02020603050405020304" pitchFamily="18" charset="0"/>
                <a:cs typeface="Times New Roman" panose="02020603050405020304" pitchFamily="18" charset="0"/>
              </a:rPr>
              <a:t>定语从句中的</a:t>
            </a:r>
            <a:r>
              <a:rPr lang="zh-CN" altLang="en-US" sz="4400" b="1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主谓一致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0645" y="5132070"/>
            <a:ext cx="11448415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spcBef>
                <a:spcPct val="50000"/>
              </a:spcBef>
            </a:pPr>
            <a:r>
              <a:rPr lang="en-US" altLang="zh-CN" sz="4000" b="1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I, who ____ your classmate, will give a French kiss to you. ( be )</a:t>
            </a:r>
          </a:p>
        </p:txBody>
      </p:sp>
      <p:pic>
        <p:nvPicPr>
          <p:cNvPr id="2" name="图片 1" descr="a5c27d1ed21b0ef479f1dc09dcc451da81cb3e4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" y="944880"/>
            <a:ext cx="3945255" cy="39452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3" grpId="0"/>
      <p:bldP spid="3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文本框 82945"/>
          <p:cNvSpPr txBox="1"/>
          <p:nvPr/>
        </p:nvSpPr>
        <p:spPr>
          <a:xfrm>
            <a:off x="139700" y="222250"/>
            <a:ext cx="4276090" cy="70675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indent="0"/>
            <a:r>
              <a:rPr lang="en-US" altLang="zh-CN" sz="4000" b="1" i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Learn to practice</a:t>
            </a:r>
          </a:p>
        </p:txBody>
      </p:sp>
      <p:sp>
        <p:nvSpPr>
          <p:cNvPr id="46082" name="文本框 82946"/>
          <p:cNvSpPr txBox="1"/>
          <p:nvPr/>
        </p:nvSpPr>
        <p:spPr>
          <a:xfrm>
            <a:off x="139700" y="1449070"/>
            <a:ext cx="11306175" cy="119888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indent="0"/>
            <a:r>
              <a:rPr lang="en-US" altLang="zh-CN" sz="3600" b="1" i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1. Tom is </a:t>
            </a:r>
            <a:r>
              <a:rPr lang="en-US" altLang="zh-CN" sz="3600" b="1" i="0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ea typeface="宋体" panose="02010600030101010101" pitchFamily="2" charset="-122"/>
              </a:rPr>
              <a:t>one of the boys</a:t>
            </a:r>
            <a:r>
              <a:rPr lang="en-US" altLang="zh-CN" sz="3600" b="1" i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that _________(be) from the USA.</a:t>
            </a:r>
          </a:p>
        </p:txBody>
      </p:sp>
      <p:sp>
        <p:nvSpPr>
          <p:cNvPr id="46083" name="文本框 82947"/>
          <p:cNvSpPr txBox="1"/>
          <p:nvPr/>
        </p:nvSpPr>
        <p:spPr>
          <a:xfrm>
            <a:off x="152400" y="3429000"/>
            <a:ext cx="11607165" cy="119888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indent="0"/>
            <a:r>
              <a:rPr lang="en-US" altLang="zh-CN" sz="3600" b="1" i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2. Tom is </a:t>
            </a:r>
            <a:r>
              <a:rPr lang="en-US" altLang="zh-CN" sz="3600" b="1" i="0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ea typeface="宋体" panose="02010600030101010101" pitchFamily="2" charset="-122"/>
              </a:rPr>
              <a:t>the only</a:t>
            </a:r>
            <a:r>
              <a:rPr lang="en-US" altLang="zh-CN" sz="3600" b="1" i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boy </a:t>
            </a:r>
            <a:r>
              <a:rPr lang="en-US" altLang="zh-CN" sz="3600" b="1" i="0" dirty="0" err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that_______(be</a:t>
            </a:r>
            <a:r>
              <a:rPr lang="en-US" altLang="zh-CN" sz="3600" b="1" i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 from the USA.</a:t>
            </a:r>
          </a:p>
        </p:txBody>
      </p:sp>
      <p:sp>
        <p:nvSpPr>
          <p:cNvPr id="82949" name="文本框 82948"/>
          <p:cNvSpPr txBox="1"/>
          <p:nvPr/>
        </p:nvSpPr>
        <p:spPr>
          <a:xfrm>
            <a:off x="7475855" y="1253808"/>
            <a:ext cx="1098550" cy="82994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indent="0"/>
            <a:r>
              <a:rPr lang="en-US" altLang="zh-CN" sz="4800" b="1" i="0">
                <a:solidFill>
                  <a:srgbClr val="CC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are</a:t>
            </a:r>
          </a:p>
        </p:txBody>
      </p:sp>
      <p:sp>
        <p:nvSpPr>
          <p:cNvPr id="82950" name="文本框 82949"/>
          <p:cNvSpPr txBox="1"/>
          <p:nvPr/>
        </p:nvSpPr>
        <p:spPr>
          <a:xfrm>
            <a:off x="6560185" y="3381058"/>
            <a:ext cx="648335" cy="7683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indent="0"/>
            <a:r>
              <a:rPr lang="en-US" altLang="zh-CN" sz="4400" b="1" i="0">
                <a:solidFill>
                  <a:srgbClr val="CC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is</a:t>
            </a:r>
          </a:p>
        </p:txBody>
      </p:sp>
      <p:sp>
        <p:nvSpPr>
          <p:cNvPr id="75780" name="文本框 75779"/>
          <p:cNvSpPr txBox="1"/>
          <p:nvPr>
            <p:custDataLst>
              <p:tags r:id="rId1"/>
            </p:custDataLst>
          </p:nvPr>
        </p:nvSpPr>
        <p:spPr>
          <a:xfrm>
            <a:off x="0" y="4766310"/>
            <a:ext cx="11960225" cy="181483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indent="0">
              <a:spcBef>
                <a:spcPct val="50000"/>
              </a:spcBef>
            </a:pPr>
            <a:r>
              <a:rPr lang="en-US" altLang="zh-CN" sz="3200" b="1" i="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one of</a:t>
            </a:r>
            <a:r>
              <a:rPr lang="en-US" altLang="zh-CN" sz="3200" b="1" i="0">
                <a:latin typeface="Times New Roman" panose="02020603050405020304" pitchFamily="18" charset="0"/>
                <a:ea typeface="宋体" panose="02010600030101010101" pitchFamily="2" charset="-122"/>
              </a:rPr>
              <a:t> +</a:t>
            </a:r>
            <a:r>
              <a:rPr lang="zh-CN" altLang="en-US" sz="3200" b="1" i="0" dirty="0">
                <a:latin typeface="Times New Roman" panose="02020603050405020304" pitchFamily="18" charset="0"/>
                <a:ea typeface="宋体" panose="02010600030101010101" pitchFamily="2" charset="-122"/>
              </a:rPr>
              <a:t>复数名词作</a:t>
            </a:r>
            <a:r>
              <a:rPr lang="zh-CN" altLang="en-US" sz="3200" b="1" i="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先行词</a:t>
            </a:r>
            <a:r>
              <a:rPr lang="zh-CN" altLang="en-US" sz="3200" b="1" i="0" dirty="0">
                <a:latin typeface="Times New Roman" panose="02020603050405020304" pitchFamily="18" charset="0"/>
                <a:ea typeface="宋体" panose="02010600030101010101" pitchFamily="2" charset="-122"/>
              </a:rPr>
              <a:t>时</a:t>
            </a:r>
            <a:r>
              <a:rPr lang="en-US" altLang="zh-CN" sz="3200" b="1" i="0" dirty="0">
                <a:latin typeface="Times New Roman" panose="02020603050405020304" pitchFamily="18" charset="0"/>
                <a:ea typeface="宋体" panose="02010600030101010101" pitchFamily="2" charset="-122"/>
              </a:rPr>
              <a:t>----</a:t>
            </a:r>
            <a:r>
              <a:rPr lang="zh-CN" altLang="en-US" sz="3200" b="1" i="0" dirty="0">
                <a:latin typeface="Times New Roman" panose="02020603050405020304" pitchFamily="18" charset="0"/>
                <a:ea typeface="宋体" panose="02010600030101010101" pitchFamily="2" charset="-122"/>
              </a:rPr>
              <a:t>从句的谓语动词用</a:t>
            </a:r>
            <a:r>
              <a:rPr lang="zh-CN" altLang="en-US" sz="3200" b="1" i="0" dirty="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复数</a:t>
            </a:r>
            <a:r>
              <a:rPr lang="zh-CN" altLang="en-US" sz="3200" b="1" i="0" dirty="0">
                <a:latin typeface="Times New Roman" panose="02020603050405020304" pitchFamily="18" charset="0"/>
                <a:ea typeface="宋体" panose="02010600030101010101" pitchFamily="2" charset="-122"/>
              </a:rPr>
              <a:t>形式。</a:t>
            </a:r>
          </a:p>
          <a:p>
            <a:pPr indent="0">
              <a:spcBef>
                <a:spcPct val="50000"/>
              </a:spcBef>
            </a:pPr>
            <a:r>
              <a:rPr lang="en-US" altLang="zh-CN" sz="3200" b="1" i="0">
                <a:latin typeface="Times New Roman" panose="02020603050405020304" pitchFamily="18" charset="0"/>
                <a:ea typeface="宋体" panose="02010600030101010101" pitchFamily="2" charset="-122"/>
              </a:rPr>
              <a:t>one</a:t>
            </a:r>
            <a:r>
              <a:rPr lang="zh-CN" altLang="en-US" sz="3200" b="1" i="0" dirty="0">
                <a:latin typeface="Times New Roman" panose="02020603050405020304" pitchFamily="18" charset="0"/>
                <a:ea typeface="宋体" panose="02010600030101010101" pitchFamily="2" charset="-122"/>
              </a:rPr>
              <a:t>前有 </a:t>
            </a:r>
            <a:r>
              <a:rPr lang="en-US" altLang="zh-CN" sz="3200" b="1" i="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the (only)/</a:t>
            </a:r>
            <a:r>
              <a:rPr lang="zh-CN" altLang="en-US" sz="3200" b="1" i="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b="1" i="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the(</a:t>
            </a:r>
            <a:r>
              <a:rPr lang="zh-CN" altLang="en-US" sz="3200" b="1" i="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b="1" i="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just)/the</a:t>
            </a:r>
            <a:r>
              <a:rPr lang="en-US" sz="3200" b="1" i="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3200" b="1" i="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very)</a:t>
            </a:r>
            <a:r>
              <a:rPr lang="zh-CN" altLang="en-US" sz="3200" b="1" i="0" dirty="0">
                <a:latin typeface="Times New Roman" panose="02020603050405020304" pitchFamily="18" charset="0"/>
                <a:ea typeface="宋体" panose="02010600030101010101" pitchFamily="2" charset="-122"/>
              </a:rPr>
              <a:t>修饰时，从句的谓语动词用</a:t>
            </a:r>
            <a:r>
              <a:rPr lang="zh-CN" altLang="en-US" sz="3200" b="1" i="0" dirty="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单数</a:t>
            </a:r>
            <a:r>
              <a:rPr lang="zh-CN" altLang="en-US" sz="3200" b="1" i="0" dirty="0">
                <a:latin typeface="Times New Roman" panose="02020603050405020304" pitchFamily="18" charset="0"/>
                <a:ea typeface="宋体" panose="02010600030101010101" pitchFamily="2" charset="-122"/>
              </a:rPr>
              <a:t>形式</a:t>
            </a: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0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0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60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60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82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60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60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82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7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5" dur="80"/>
                                        <p:tgtEl>
                                          <p:spTgt spid="757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6" dur="80"/>
                                        <p:tgtEl>
                                          <p:spTgt spid="757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80"/>
                                        <p:tgtEl>
                                          <p:spTgt spid="757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1" grpId="0"/>
      <p:bldP spid="46081" grpId="1"/>
      <p:bldP spid="46082" grpId="0"/>
      <p:bldP spid="46082" grpId="1"/>
      <p:bldP spid="46083" grpId="0"/>
      <p:bldP spid="46083" grpId="1"/>
      <p:bldP spid="82949" grpId="0"/>
      <p:bldP spid="82950" grpId="0"/>
      <p:bldP spid="75780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9" name="文本框 75778"/>
          <p:cNvSpPr txBox="1"/>
          <p:nvPr/>
        </p:nvSpPr>
        <p:spPr>
          <a:xfrm>
            <a:off x="0" y="995045"/>
            <a:ext cx="12233910" cy="424624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indent="0" algn="just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3600" b="1" i="0">
                <a:latin typeface="Times New Roman" panose="02020603050405020304" pitchFamily="18" charset="0"/>
                <a:ea typeface="宋体" panose="02010600030101010101" pitchFamily="2" charset="-122"/>
              </a:rPr>
              <a:t>He is one of the students who ______ made great progress.</a:t>
            </a:r>
          </a:p>
          <a:p>
            <a:pPr indent="0" algn="just" fontAlgn="auto">
              <a:lnSpc>
                <a:spcPct val="150000"/>
              </a:lnSpc>
              <a:spcBef>
                <a:spcPts val="0"/>
              </a:spcBef>
            </a:pPr>
            <a:endParaRPr lang="en-US" altLang="zh-CN" sz="3600" b="1" i="0" dirty="0" err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3600" b="1" i="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Mr</a:t>
            </a:r>
            <a:r>
              <a:rPr lang="en-US" altLang="zh-CN" sz="3600" b="1" i="0">
                <a:latin typeface="Times New Roman" panose="02020603050405020304" pitchFamily="18" charset="0"/>
                <a:ea typeface="宋体" panose="02010600030101010101" pitchFamily="2" charset="-122"/>
              </a:rPr>
              <a:t> Wang is the only one of my friends who ____ been invited to have dinner with us.</a:t>
            </a:r>
          </a:p>
          <a:p>
            <a:pPr indent="0" algn="just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3600" b="1" i="0">
                <a:latin typeface="Times New Roman" panose="02020603050405020304" pitchFamily="18" charset="0"/>
                <a:ea typeface="宋体" panose="02010600030101010101" pitchFamily="2" charset="-122"/>
              </a:rPr>
              <a:t>(have)</a:t>
            </a:r>
          </a:p>
        </p:txBody>
      </p:sp>
      <p:sp>
        <p:nvSpPr>
          <p:cNvPr id="46081" name="文本框 82945"/>
          <p:cNvSpPr txBox="1"/>
          <p:nvPr>
            <p:custDataLst>
              <p:tags r:id="rId1"/>
            </p:custDataLst>
          </p:nvPr>
        </p:nvSpPr>
        <p:spPr>
          <a:xfrm>
            <a:off x="139700" y="222250"/>
            <a:ext cx="4276090" cy="70675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indent="0"/>
            <a:r>
              <a:rPr lang="en-US" altLang="zh-CN" sz="4000" b="1" i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Learn to practice</a:t>
            </a:r>
          </a:p>
        </p:txBody>
      </p:sp>
      <p:sp>
        <p:nvSpPr>
          <p:cNvPr id="75781" name="文本框 75780"/>
          <p:cNvSpPr txBox="1"/>
          <p:nvPr>
            <p:custDataLst>
              <p:tags r:id="rId2"/>
            </p:custDataLst>
          </p:nvPr>
        </p:nvSpPr>
        <p:spPr>
          <a:xfrm>
            <a:off x="6010275" y="1224280"/>
            <a:ext cx="1466850" cy="645160"/>
          </a:xfrm>
          <a:prstGeom prst="rect">
            <a:avLst/>
          </a:prstGeom>
          <a:noFill/>
          <a:ln w="9525">
            <a:noFill/>
          </a:ln>
          <a:effectLst>
            <a:outerShdw dist="107763" dir="13499999" sx="125000" sy="125000" rotWithShape="0">
              <a:srgbClr val="C7DFD3">
                <a:alpha val="78000"/>
              </a:srgbClr>
            </a:outerShdw>
          </a:effec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600" noProof="1">
                <a:solidFill>
                  <a:srgbClr val="FF0066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have</a:t>
            </a:r>
          </a:p>
        </p:txBody>
      </p:sp>
      <p:sp>
        <p:nvSpPr>
          <p:cNvPr id="75782" name="文本框 75781"/>
          <p:cNvSpPr txBox="1"/>
          <p:nvPr>
            <p:custDataLst>
              <p:tags r:id="rId3"/>
            </p:custDataLst>
          </p:nvPr>
        </p:nvSpPr>
        <p:spPr>
          <a:xfrm>
            <a:off x="8681085" y="2845435"/>
            <a:ext cx="863600" cy="583565"/>
          </a:xfrm>
          <a:prstGeom prst="rect">
            <a:avLst/>
          </a:prstGeom>
          <a:noFill/>
          <a:ln w="9525">
            <a:noFill/>
          </a:ln>
          <a:effectLst>
            <a:outerShdw dist="107763" dir="13499999" sx="125000" sy="125000" rotWithShape="0">
              <a:srgbClr val="C7DFD3">
                <a:alpha val="78000"/>
              </a:srgbClr>
            </a:outer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noProof="1">
                <a:solidFill>
                  <a:srgbClr val="FF0066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has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0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0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charRg st="142" end="1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8" dur="500"/>
                                        <p:tgtEl>
                                          <p:spTgt spid="75779">
                                            <p:txEl>
                                              <p:charRg st="142" end="15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9" dur="80"/>
                                        <p:tgtEl>
                                          <p:spTgt spid="757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0" dur="80"/>
                                        <p:tgtEl>
                                          <p:spTgt spid="757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80"/>
                                        <p:tgtEl>
                                          <p:spTgt spid="757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6" dur="80"/>
                                        <p:tgtEl>
                                          <p:spTgt spid="757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7" dur="80"/>
                                        <p:tgtEl>
                                          <p:spTgt spid="757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80"/>
                                        <p:tgtEl>
                                          <p:spTgt spid="757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1" grpId="0"/>
      <p:bldP spid="46081" grpId="1"/>
      <p:bldP spid="75781" grpId="0"/>
      <p:bldP spid="7578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60655" y="236855"/>
            <a:ext cx="1187069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所以，当</a:t>
            </a:r>
            <a:r>
              <a:rPr lang="zh-CN" altLang="en-US" sz="3200" b="1" u="sng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先行词</a:t>
            </a:r>
            <a:r>
              <a:rPr lang="zh-CN" altLang="en-US" sz="3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</a:t>
            </a:r>
            <a:r>
              <a:rPr lang="en-US" altLang="zh-CN" sz="3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3200" b="1" u="sng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</a:t>
            </a:r>
            <a:r>
              <a:rPr lang="en-US" altLang="zh-CN" sz="3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3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的时候，我们如何选择关系代词</a:t>
            </a:r>
            <a:r>
              <a:rPr lang="en-US" altLang="zh-CN" sz="3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3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引导词呢？</a:t>
            </a:r>
          </a:p>
        </p:txBody>
      </p:sp>
      <p:sp>
        <p:nvSpPr>
          <p:cNvPr id="5" name="左大括号 4"/>
          <p:cNvSpPr/>
          <p:nvPr/>
        </p:nvSpPr>
        <p:spPr>
          <a:xfrm>
            <a:off x="2327910" y="1414145"/>
            <a:ext cx="729615" cy="3939540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92100" y="3083560"/>
            <a:ext cx="20015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/>
              <a:t>先行词为</a:t>
            </a:r>
            <a:r>
              <a:rPr lang="zh-CN" altLang="en-US" sz="2800" b="1" u="sng">
                <a:solidFill>
                  <a:srgbClr val="FF0000"/>
                </a:solidFill>
              </a:rPr>
              <a:t>人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903220" y="1495425"/>
            <a:ext cx="34575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关系代词当</a:t>
            </a:r>
            <a:r>
              <a:rPr lang="zh-CN" altLang="en-US" sz="2800" b="1" u="sng">
                <a:solidFill>
                  <a:srgbClr val="FF0000"/>
                </a:solidFill>
              </a:rPr>
              <a:t>主语</a:t>
            </a:r>
            <a:r>
              <a:rPr lang="zh-CN" altLang="en-US" sz="2800"/>
              <a:t>时：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080125" y="1456690"/>
            <a:ext cx="39662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>
                <a:latin typeface="Arial Bold" panose="020B0704020202020204" charset="0"/>
                <a:cs typeface="Arial Bold" panose="020B0704020202020204" charset="0"/>
              </a:rPr>
              <a:t>who, that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914650" y="2475865"/>
            <a:ext cx="33000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关系代词当</a:t>
            </a:r>
            <a:r>
              <a:rPr lang="zh-CN" altLang="en-US" sz="2800" b="1" u="sng">
                <a:solidFill>
                  <a:srgbClr val="FF0000"/>
                </a:solidFill>
              </a:rPr>
              <a:t>宾语</a:t>
            </a:r>
            <a:r>
              <a:rPr lang="zh-CN" altLang="en-US" sz="2800"/>
              <a:t>时：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6080125" y="2475865"/>
            <a:ext cx="485902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/>
              <a:t>who, that, whom, </a:t>
            </a:r>
            <a:r>
              <a:rPr lang="zh-CN" altLang="en-US" sz="3200" b="1"/>
              <a:t>不填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2914650" y="3456305"/>
            <a:ext cx="30765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关系代词当</a:t>
            </a:r>
            <a:r>
              <a:rPr lang="zh-CN" altLang="en-US" sz="2800" b="1" u="sng">
                <a:solidFill>
                  <a:srgbClr val="FF0000"/>
                </a:solidFill>
              </a:rPr>
              <a:t>表语</a:t>
            </a:r>
            <a:r>
              <a:rPr lang="zh-CN" altLang="en-US" sz="2800"/>
              <a:t>时：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6080125" y="3455670"/>
            <a:ext cx="39662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/>
              <a:t>that,  </a:t>
            </a:r>
            <a:r>
              <a:rPr lang="zh-CN" altLang="en-US" sz="3200" b="1"/>
              <a:t>不填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2903220" y="4665980"/>
            <a:ext cx="33000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关系代词当</a:t>
            </a:r>
            <a:r>
              <a:rPr lang="zh-CN" altLang="en-US" sz="2800" b="1" u="sng">
                <a:solidFill>
                  <a:srgbClr val="FF0000"/>
                </a:solidFill>
              </a:rPr>
              <a:t>定语</a:t>
            </a:r>
            <a:r>
              <a:rPr lang="zh-CN" altLang="en-US" sz="2800"/>
              <a:t>时：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6080125" y="4610735"/>
            <a:ext cx="14992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>
                <a:latin typeface="Arial Bold" panose="020B0704020202020204" charset="0"/>
                <a:cs typeface="Arial Bold" panose="020B0704020202020204" charset="0"/>
              </a:rPr>
              <a:t>whose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ldLvl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9695" y="199390"/>
            <a:ext cx="119970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所以，当</a:t>
            </a:r>
            <a:r>
              <a:rPr lang="zh-CN" altLang="en-US" sz="3600" b="1" u="sng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先行词</a:t>
            </a:r>
            <a:r>
              <a:rPr lang="zh-CN" altLang="en-US" sz="3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</a:t>
            </a:r>
            <a:r>
              <a:rPr lang="en-US" altLang="zh-CN" sz="3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3600" b="1" u="sng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物</a:t>
            </a:r>
            <a:r>
              <a:rPr lang="en-US" altLang="zh-CN" sz="3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3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的时候，我们如何选择关系词呢？</a:t>
            </a:r>
          </a:p>
        </p:txBody>
      </p:sp>
      <p:sp>
        <p:nvSpPr>
          <p:cNvPr id="5" name="左大括号 4"/>
          <p:cNvSpPr/>
          <p:nvPr/>
        </p:nvSpPr>
        <p:spPr>
          <a:xfrm>
            <a:off x="2327910" y="1313180"/>
            <a:ext cx="729615" cy="3939540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04140" y="2982595"/>
            <a:ext cx="2386965" cy="10642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b="1"/>
              <a:t>先行词为</a:t>
            </a:r>
            <a:r>
              <a:rPr lang="zh-CN" altLang="en-US" sz="3200" b="1" u="sng">
                <a:solidFill>
                  <a:srgbClr val="FF0000"/>
                </a:solidFill>
              </a:rPr>
              <a:t>物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817495" y="1445260"/>
            <a:ext cx="28975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关系词当</a:t>
            </a:r>
            <a:r>
              <a:rPr lang="zh-CN" altLang="en-US" sz="2800" b="1" u="sng">
                <a:solidFill>
                  <a:srgbClr val="FF0000"/>
                </a:solidFill>
              </a:rPr>
              <a:t>主语</a:t>
            </a:r>
            <a:r>
              <a:rPr lang="zh-CN" altLang="en-US" sz="2800"/>
              <a:t>时：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5715000" y="1414145"/>
            <a:ext cx="39662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/>
              <a:t>which, that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817495" y="2452370"/>
            <a:ext cx="31610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关系词当</a:t>
            </a:r>
            <a:r>
              <a:rPr lang="zh-CN" altLang="en-US" sz="2800" b="1" u="sng">
                <a:solidFill>
                  <a:srgbClr val="FF0000"/>
                </a:solidFill>
              </a:rPr>
              <a:t>宾语</a:t>
            </a:r>
            <a:r>
              <a:rPr lang="zh-CN" altLang="en-US" sz="2800"/>
              <a:t>时：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5715000" y="2452370"/>
            <a:ext cx="39662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/>
              <a:t>which, that, </a:t>
            </a:r>
            <a:r>
              <a:rPr lang="zh-CN" altLang="en-US" sz="2800"/>
              <a:t>不填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2817495" y="3429000"/>
            <a:ext cx="27095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关系词当</a:t>
            </a:r>
            <a:r>
              <a:rPr lang="zh-CN" altLang="en-US" sz="2800" b="1" u="sng">
                <a:solidFill>
                  <a:srgbClr val="FF0000"/>
                </a:solidFill>
              </a:rPr>
              <a:t>表语</a:t>
            </a:r>
            <a:r>
              <a:rPr lang="zh-CN" altLang="en-US" sz="2800"/>
              <a:t>时：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5715000" y="3429000"/>
            <a:ext cx="39662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/>
              <a:t>that,  </a:t>
            </a:r>
            <a:r>
              <a:rPr lang="zh-CN" altLang="en-US" sz="2800"/>
              <a:t>不填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2817495" y="4490085"/>
            <a:ext cx="30041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关系词当</a:t>
            </a:r>
            <a:r>
              <a:rPr lang="zh-CN" altLang="en-US" sz="2800" b="1" u="sng">
                <a:solidFill>
                  <a:srgbClr val="FF0000"/>
                </a:solidFill>
              </a:rPr>
              <a:t>定语</a:t>
            </a:r>
            <a:r>
              <a:rPr lang="zh-CN" altLang="en-US" sz="2800"/>
              <a:t>时：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5821680" y="4486275"/>
            <a:ext cx="14992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/>
              <a:t>whose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ldLvl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左大括号 2"/>
          <p:cNvSpPr/>
          <p:nvPr/>
        </p:nvSpPr>
        <p:spPr>
          <a:xfrm>
            <a:off x="327025" y="295275"/>
            <a:ext cx="1018540" cy="6102350"/>
          </a:xfrm>
          <a:prstGeom prst="leftBrac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842645" y="436880"/>
            <a:ext cx="839660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先行词为：</a:t>
            </a:r>
            <a:r>
              <a:rPr lang="zh-CN" altLang="en-US" sz="4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不定代词指物</a:t>
            </a: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842645" y="1418590"/>
            <a:ext cx="1156525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先行词被：</a:t>
            </a:r>
            <a:r>
              <a:rPr lang="en-US" altLang="zh-CN" sz="4000" b="1" u="sng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the only</a:t>
            </a:r>
            <a:r>
              <a:rPr lang="en-US" altLang="zh-CN" sz="4000">
                <a:latin typeface="Times New Roman" panose="02020603050405020304" pitchFamily="18" charset="0"/>
                <a:cs typeface="Times New Roman" panose="02020603050405020304" pitchFamily="18" charset="0"/>
              </a:rPr>
              <a:t>, the very, the right, </a:t>
            </a:r>
            <a:r>
              <a:rPr lang="en-US" altLang="zh-CN" sz="4000" b="1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the last </a:t>
            </a:r>
            <a:r>
              <a:rPr lang="zh-CN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修饰</a:t>
            </a: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842645" y="2588895"/>
            <a:ext cx="6239510" cy="7067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先行词即有</a:t>
            </a:r>
            <a:r>
              <a:rPr lang="zh-CN" altLang="en-US" sz="4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人</a:t>
            </a:r>
            <a:r>
              <a:rPr lang="zh-CN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又有</a:t>
            </a:r>
            <a:r>
              <a:rPr lang="zh-CN" altLang="en-US" sz="4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物</a:t>
            </a: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842645" y="3759200"/>
            <a:ext cx="959866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先行词前：</a:t>
            </a:r>
            <a:r>
              <a:rPr lang="zh-CN" altLang="en-US" sz="4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序数词</a:t>
            </a:r>
            <a:r>
              <a:rPr lang="en-US" altLang="zh-CN" sz="4000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zh-CN" altLang="en-US" sz="4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形容词最高级</a:t>
            </a:r>
            <a:endParaRPr lang="en-US" altLang="zh-CN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842645" y="5005070"/>
            <a:ext cx="798830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>
                <a:latin typeface="Times New Roman" panose="02020603050405020304" pitchFamily="18" charset="0"/>
                <a:cs typeface="Times New Roman" panose="02020603050405020304" pitchFamily="18" charset="0"/>
              </a:rPr>
              <a:t>当主句以 </a:t>
            </a:r>
            <a:r>
              <a:rPr lang="zh-CN" altLang="en-US" sz="4400" b="1">
                <a:solidFill>
                  <a:srgbClr val="C0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who</a:t>
            </a:r>
            <a:r>
              <a:rPr lang="zh-CN" altLang="en-US" sz="4400">
                <a:latin typeface="Times New Roman" panose="02020603050405020304" pitchFamily="18" charset="0"/>
                <a:cs typeface="Times New Roman" panose="02020603050405020304" pitchFamily="18" charset="0"/>
              </a:rPr>
              <a:t> 或 </a:t>
            </a:r>
            <a:r>
              <a:rPr lang="zh-CN" altLang="en-US" sz="4400" b="1">
                <a:solidFill>
                  <a:srgbClr val="C0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which</a:t>
            </a:r>
            <a:r>
              <a:rPr lang="zh-CN" altLang="en-US" sz="4400">
                <a:latin typeface="Times New Roman" panose="02020603050405020304" pitchFamily="18" charset="0"/>
                <a:cs typeface="Times New Roman" panose="02020603050405020304" pitchFamily="18" charset="0"/>
              </a:rPr>
              <a:t>开头时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3" grpId="1" animBg="1"/>
      <p:bldP spid="4" grpId="0"/>
      <p:bldP spid="5" grpId="0"/>
      <p:bldP spid="6" grpId="0"/>
      <p:bldP spid="7" grpId="0"/>
      <p:bldP spid="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左大括号 2"/>
          <p:cNvSpPr/>
          <p:nvPr>
            <p:custDataLst>
              <p:tags r:id="rId1"/>
            </p:custDataLst>
          </p:nvPr>
        </p:nvSpPr>
        <p:spPr>
          <a:xfrm>
            <a:off x="327025" y="295275"/>
            <a:ext cx="1030605" cy="5008245"/>
          </a:xfrm>
          <a:prstGeom prst="leftBrac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986155" y="474345"/>
            <a:ext cx="1144841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>
                <a:latin typeface="Times New Roman" panose="02020603050405020304" pitchFamily="18" charset="0"/>
                <a:cs typeface="Times New Roman" panose="02020603050405020304" pitchFamily="18" charset="0"/>
              </a:rPr>
              <a:t>先行词为：</a:t>
            </a:r>
            <a:r>
              <a:rPr lang="en-US" altLang="zh-CN" sz="4400" b="1">
                <a:solidFill>
                  <a:srgbClr val="C0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those, </a:t>
            </a:r>
            <a:r>
              <a:rPr lang="en-US" altLang="zh-CN" sz="4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people</a:t>
            </a: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986155" y="4328160"/>
            <a:ext cx="1144841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>
                <a:latin typeface="Times New Roman" panose="02020603050405020304" pitchFamily="18" charset="0"/>
                <a:cs typeface="Times New Roman" panose="02020603050405020304" pitchFamily="18" charset="0"/>
              </a:rPr>
              <a:t>先行词为：</a:t>
            </a:r>
            <a:r>
              <a:rPr lang="zh-CN" altLang="en-US" sz="4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不定代词指人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3" grpId="1" animBg="1"/>
      <p:bldP spid="4" grpId="0"/>
      <p:bldP spid="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截屏2024-07-13 19.47.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95" y="102870"/>
            <a:ext cx="10326370" cy="67551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截屏2024-07-13 19.48.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795" y="151130"/>
            <a:ext cx="11637645" cy="64877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截屏2024-07-13 19.48.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30" y="780415"/>
            <a:ext cx="11993245" cy="44729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截屏2024-07-13 19.48.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760" y="138430"/>
            <a:ext cx="11108055" cy="66313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截屏2024-07-13 19.49.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795" y="100965"/>
            <a:ext cx="11170285" cy="66560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截屏2024-07-13 19.49.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5775"/>
            <a:ext cx="11955145" cy="36328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截屏2024-07-13 19.50.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925" y="201930"/>
            <a:ext cx="10073005" cy="63334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截屏2024-07-13 19.50.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95" y="138430"/>
            <a:ext cx="11030585" cy="66338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截屏2024-07-13 19.50.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960" y="302260"/>
            <a:ext cx="11732260" cy="51835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截屏2024-07-13 19.51.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895" y="143510"/>
            <a:ext cx="11829415" cy="53581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截屏2024-07-13 19.51.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" y="680085"/>
            <a:ext cx="11997690" cy="45739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ID" val="custom20205081_1*a*1"/>
  <p:tag name="KSO_WM_TEMPLATE_CATEGORY" val="custom"/>
  <p:tag name="KSO_WM_TEMPLATE_INDEX" val="20205081"/>
  <p:tag name="KSO_WM_UNIT_LAYERLEVEL" val="1"/>
  <p:tag name="KSO_WM_TAG_VERSION" val="1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1074</Words>
  <Application>Microsoft Macintosh PowerPoint</Application>
  <PresentationFormat>宽屏</PresentationFormat>
  <Paragraphs>119</Paragraphs>
  <Slides>35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4" baseType="lpstr">
      <vt:lpstr>宋体</vt:lpstr>
      <vt:lpstr>微软雅黑</vt:lpstr>
      <vt:lpstr>Andalus</vt:lpstr>
      <vt:lpstr>Arial Bold</vt:lpstr>
      <vt:lpstr>Times New Roman Bold</vt:lpstr>
      <vt:lpstr>Arial</vt:lpstr>
      <vt:lpstr>Calibri</vt:lpstr>
      <vt:lpstr>Times New Roman</vt:lpstr>
      <vt:lpstr>Office 主题​​</vt:lpstr>
      <vt:lpstr>Attributive Clause（完整版本）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tianjiuguo</dc:creator>
  <cp:lastModifiedBy>安 方</cp:lastModifiedBy>
  <cp:revision>24</cp:revision>
  <dcterms:created xsi:type="dcterms:W3CDTF">2024-10-05T11:11:00Z</dcterms:created>
  <dcterms:modified xsi:type="dcterms:W3CDTF">2025-10-11T14:44:40Z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2052-12.1.0.19770</vt:lpwstr>
  </property>
  <property fmtid="{D5CDD505-2E9C-101B-9397-08002B2CF9AE}" pid="3" name="ICV">
    <vt:lpwstr>4BF5D8BFAB4247529F8DE71BE6CBD982_13</vt:lpwstr>
  </property>
</Properties>
</file>